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VAG Rounded Next Shine" charset="1" panose="04020805020F02030202"/>
      <p:regular r:id="rId27"/>
    </p:embeddedFont>
    <p:embeddedFont>
      <p:font typeface="Palm Club" charset="1" panose="00000000000000000000"/>
      <p:regular r:id="rId28"/>
    </p:embeddedFont>
    <p:embeddedFont>
      <p:font typeface="Montserrat Bold Italics" charset="1" panose="00000800000000000000"/>
      <p:regular r:id="rId29"/>
    </p:embeddedFont>
    <p:embeddedFont>
      <p:font typeface="Gladiola" charset="1" panose="00000500000000000000"/>
      <p:regular r:id="rId30"/>
    </p:embeddedFont>
    <p:embeddedFont>
      <p:font typeface="Montserrat Bold" charset="1" panose="00000800000000000000"/>
      <p:regular r:id="rId31"/>
    </p:embeddedFont>
    <p:embeddedFont>
      <p:font typeface="Roca One Heavy Italics" charset="1" panose="00000A00000000000000"/>
      <p:regular r:id="rId32"/>
    </p:embeddedFont>
    <p:embeddedFont>
      <p:font typeface="Roca One Heavy" charset="1" panose="00000A00000000000000"/>
      <p:regular r:id="rId33"/>
    </p:embeddedFont>
    <p:embeddedFont>
      <p:font typeface="Montserrat Semi-Bold Italics" charset="1" panose="00000700000000000000"/>
      <p:regular r:id="rId34"/>
    </p:embeddedFont>
    <p:embeddedFont>
      <p:font typeface="Montserrat Italics" charset="1" panose="00000500000000000000"/>
      <p:regular r:id="rId35"/>
    </p:embeddedFont>
    <p:embeddedFont>
      <p:font typeface="Montserrat Semi-Bold" charset="1" panose="00000700000000000000"/>
      <p:regular r:id="rId36"/>
    </p:embeddedFont>
    <p:embeddedFont>
      <p:font typeface="Montserrat" charset="1" panose="000005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https://paytm.com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803731" y="217078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27926" y="-5654656"/>
            <a:ext cx="20632285" cy="20632285"/>
          </a:xfrm>
          <a:custGeom>
            <a:avLst/>
            <a:gdLst/>
            <a:ahLst/>
            <a:cxnLst/>
            <a:rect r="r" b="b" t="t" l="l"/>
            <a:pathLst>
              <a:path h="20632285" w="20632285">
                <a:moveTo>
                  <a:pt x="0" y="0"/>
                </a:moveTo>
                <a:lnTo>
                  <a:pt x="20632285" y="0"/>
                </a:lnTo>
                <a:lnTo>
                  <a:pt x="20632285" y="20632286"/>
                </a:lnTo>
                <a:lnTo>
                  <a:pt x="0" y="20632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4740" cy="1798419"/>
            </a:xfrm>
            <a:custGeom>
              <a:avLst/>
              <a:gdLst/>
              <a:ahLst/>
              <a:cxnLst/>
              <a:rect r="r" b="b" t="t" l="l"/>
              <a:pathLst>
                <a:path h="1798419" w="2934740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000000">
                <a:alpha val="44706"/>
              </a:srgbClr>
            </a:solidFill>
            <a:ln w="66675" cap="rnd">
              <a:gradFill>
                <a:gsLst>
                  <a:gs pos="0">
                    <a:srgbClr val="F7DFFF">
                      <a:alpha val="45000"/>
                    </a:srgbClr>
                  </a:gs>
                  <a:gs pos="50000">
                    <a:srgbClr val="FFFFFF">
                      <a:alpha val="45000"/>
                    </a:srgbClr>
                  </a:gs>
                  <a:gs pos="100000">
                    <a:srgbClr val="87EFFF">
                      <a:alpha val="45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69586" y="6715409"/>
            <a:ext cx="6548829" cy="912181"/>
            <a:chOff x="0" y="0"/>
            <a:chExt cx="2110037" cy="2939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0037" cy="293905"/>
            </a:xfrm>
            <a:custGeom>
              <a:avLst/>
              <a:gdLst/>
              <a:ahLst/>
              <a:cxnLst/>
              <a:rect r="r" b="b" t="t" l="l"/>
              <a:pathLst>
                <a:path h="293905" w="2110037">
                  <a:moveTo>
                    <a:pt x="118218" y="0"/>
                  </a:moveTo>
                  <a:lnTo>
                    <a:pt x="1991819" y="0"/>
                  </a:lnTo>
                  <a:cubicBezTo>
                    <a:pt x="2057109" y="0"/>
                    <a:pt x="2110037" y="52928"/>
                    <a:pt x="2110037" y="118218"/>
                  </a:cubicBezTo>
                  <a:lnTo>
                    <a:pt x="2110037" y="175687"/>
                  </a:lnTo>
                  <a:cubicBezTo>
                    <a:pt x="2110037" y="207040"/>
                    <a:pt x="2097582" y="237110"/>
                    <a:pt x="2075411" y="259280"/>
                  </a:cubicBezTo>
                  <a:cubicBezTo>
                    <a:pt x="2053241" y="281450"/>
                    <a:pt x="2023172" y="293905"/>
                    <a:pt x="1991819" y="293905"/>
                  </a:cubicBezTo>
                  <a:lnTo>
                    <a:pt x="118218" y="293905"/>
                  </a:lnTo>
                  <a:cubicBezTo>
                    <a:pt x="52928" y="293905"/>
                    <a:pt x="0" y="240977"/>
                    <a:pt x="0" y="175687"/>
                  </a:cubicBezTo>
                  <a:lnTo>
                    <a:pt x="0" y="118218"/>
                  </a:lnTo>
                  <a:cubicBezTo>
                    <a:pt x="0" y="52928"/>
                    <a:pt x="52928" y="0"/>
                    <a:pt x="1182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10037" cy="332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443606">
            <a:off x="7226748" y="607904"/>
            <a:ext cx="819790" cy="593230"/>
          </a:xfrm>
          <a:custGeom>
            <a:avLst/>
            <a:gdLst/>
            <a:ahLst/>
            <a:cxnLst/>
            <a:rect r="r" b="b" t="t" l="l"/>
            <a:pathLst>
              <a:path h="593230" w="819790">
                <a:moveTo>
                  <a:pt x="0" y="0"/>
                </a:moveTo>
                <a:lnTo>
                  <a:pt x="819790" y="0"/>
                </a:lnTo>
                <a:lnTo>
                  <a:pt x="819790" y="593230"/>
                </a:lnTo>
                <a:lnTo>
                  <a:pt x="0" y="5932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31160" y="3218673"/>
            <a:ext cx="8967052" cy="2803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9"/>
              </a:lnSpc>
            </a:pPr>
            <a:r>
              <a:rPr lang="en-US" sz="4857" spc="-267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Phishing Awareness Training</a:t>
            </a:r>
          </a:p>
          <a:p>
            <a:pPr algn="ctr" marL="0" indent="0" lvl="0">
              <a:lnSpc>
                <a:spcPts val="7529"/>
              </a:lnSpc>
            </a:pPr>
            <a:r>
              <a:rPr lang="en-US" sz="4857" spc="-267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Protecting Yourself from Cyber Threats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72011" y="6908099"/>
            <a:ext cx="5143978" cy="49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9"/>
              </a:lnSpc>
              <a:spcBef>
                <a:spcPct val="0"/>
              </a:spcBef>
            </a:pPr>
            <a:r>
              <a:rPr lang="en-US" sz="2813" spc="14" strike="noStrike" u="none">
                <a:solidFill>
                  <a:srgbClr val="F3D3FE"/>
                </a:solidFill>
                <a:latin typeface="Palm Club"/>
                <a:ea typeface="Palm Club"/>
                <a:cs typeface="Palm Club"/>
                <a:sym typeface="Palm Club"/>
              </a:rPr>
              <a:t>Presented by :Asker .k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20469" y="971194"/>
            <a:ext cx="2969155" cy="38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8"/>
              </a:lnSpc>
            </a:pPr>
            <a:r>
              <a:rPr lang="en-US" b="true" sz="2998" i="true" spc="-164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SLIDE: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700261" y="-15109961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49491" y="-1576683"/>
            <a:ext cx="23235874" cy="21039028"/>
          </a:xfrm>
          <a:custGeom>
            <a:avLst/>
            <a:gdLst/>
            <a:ahLst/>
            <a:cxnLst/>
            <a:rect r="r" b="b" t="t" l="l"/>
            <a:pathLst>
              <a:path h="21039028" w="23235874">
                <a:moveTo>
                  <a:pt x="0" y="0"/>
                </a:moveTo>
                <a:lnTo>
                  <a:pt x="23235874" y="0"/>
                </a:lnTo>
                <a:lnTo>
                  <a:pt x="23235874" y="21039027"/>
                </a:lnTo>
                <a:lnTo>
                  <a:pt x="0" y="210390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75314">
            <a:off x="314465" y="326025"/>
            <a:ext cx="850558" cy="615495"/>
          </a:xfrm>
          <a:custGeom>
            <a:avLst/>
            <a:gdLst/>
            <a:ahLst/>
            <a:cxnLst/>
            <a:rect r="r" b="b" t="t" l="l"/>
            <a:pathLst>
              <a:path h="615495" w="850558">
                <a:moveTo>
                  <a:pt x="0" y="0"/>
                </a:moveTo>
                <a:lnTo>
                  <a:pt x="850558" y="0"/>
                </a:lnTo>
                <a:lnTo>
                  <a:pt x="850558" y="615495"/>
                </a:lnTo>
                <a:lnTo>
                  <a:pt x="0" y="615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7095" y="2529169"/>
            <a:ext cx="4573781" cy="4299761"/>
            <a:chOff x="0" y="0"/>
            <a:chExt cx="86459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4599" cy="812800"/>
            </a:xfrm>
            <a:custGeom>
              <a:avLst/>
              <a:gdLst/>
              <a:ahLst/>
              <a:cxnLst/>
              <a:rect r="r" b="b" t="t" l="l"/>
              <a:pathLst>
                <a:path h="812800" w="864599">
                  <a:moveTo>
                    <a:pt x="432299" y="0"/>
                  </a:moveTo>
                  <a:cubicBezTo>
                    <a:pt x="193547" y="0"/>
                    <a:pt x="0" y="181951"/>
                    <a:pt x="0" y="406400"/>
                  </a:cubicBezTo>
                  <a:cubicBezTo>
                    <a:pt x="0" y="630849"/>
                    <a:pt x="193547" y="812800"/>
                    <a:pt x="432299" y="812800"/>
                  </a:cubicBezTo>
                  <a:cubicBezTo>
                    <a:pt x="671052" y="812800"/>
                    <a:pt x="864599" y="630849"/>
                    <a:pt x="864599" y="406400"/>
                  </a:cubicBezTo>
                  <a:cubicBezTo>
                    <a:pt x="864599" y="181951"/>
                    <a:pt x="671052" y="0"/>
                    <a:pt x="4322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81056" y="104775"/>
              <a:ext cx="702487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730322" y="6644833"/>
            <a:ext cx="3125476" cy="2942865"/>
            <a:chOff x="0" y="0"/>
            <a:chExt cx="86323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236" cy="812800"/>
            </a:xfrm>
            <a:custGeom>
              <a:avLst/>
              <a:gdLst/>
              <a:ahLst/>
              <a:cxnLst/>
              <a:rect r="r" b="b" t="t" l="l"/>
              <a:pathLst>
                <a:path h="812800" w="863236">
                  <a:moveTo>
                    <a:pt x="431618" y="0"/>
                  </a:moveTo>
                  <a:cubicBezTo>
                    <a:pt x="193242" y="0"/>
                    <a:pt x="0" y="181951"/>
                    <a:pt x="0" y="406400"/>
                  </a:cubicBezTo>
                  <a:cubicBezTo>
                    <a:pt x="0" y="630849"/>
                    <a:pt x="193242" y="812800"/>
                    <a:pt x="431618" y="812800"/>
                  </a:cubicBezTo>
                  <a:cubicBezTo>
                    <a:pt x="669994" y="812800"/>
                    <a:pt x="863236" y="630849"/>
                    <a:pt x="863236" y="406400"/>
                  </a:cubicBezTo>
                  <a:cubicBezTo>
                    <a:pt x="863236" y="181951"/>
                    <a:pt x="669994" y="0"/>
                    <a:pt x="4316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DEF">
                    <a:alpha val="100000"/>
                  </a:srgbClr>
                </a:gs>
                <a:gs pos="100000">
                  <a:srgbClr val="0047FF">
                    <a:alpha val="100000"/>
                  </a:srgbClr>
                </a:gs>
              </a:gsLst>
              <a:lin ang="8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80928" y="104775"/>
              <a:ext cx="701379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93189" y="5022597"/>
            <a:ext cx="3525533" cy="352553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32065" y="3442274"/>
            <a:ext cx="3571130" cy="357113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DEF">
                    <a:alpha val="100000"/>
                  </a:srgbClr>
                </a:gs>
                <a:gs pos="100000">
                  <a:srgbClr val="0047FF">
                    <a:alpha val="100000"/>
                  </a:srgbClr>
                </a:gs>
              </a:gsLst>
              <a:lin ang="8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3000" i="true" spc="-165">
                  <a:solidFill>
                    <a:srgbClr val="5CE1E6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4 . Apply best practices to stay secure</a:t>
              </a:r>
            </a:p>
            <a:p>
              <a:pPr algn="ctr" marL="0" indent="0" lvl="0">
                <a:lnSpc>
                  <a:spcPts val="1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448352" y="1075167"/>
            <a:ext cx="8394230" cy="99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51"/>
              </a:lnSpc>
            </a:pPr>
            <a:r>
              <a:rPr lang="en-US" sz="6211">
                <a:solidFill>
                  <a:srgbClr val="CCCCE8"/>
                </a:solidFill>
                <a:latin typeface="Gladiola"/>
                <a:ea typeface="Gladiola"/>
                <a:cs typeface="Gladiola"/>
                <a:sym typeface="Gladiola"/>
              </a:rPr>
              <a:t>Learning Objectives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6470" y="721340"/>
            <a:ext cx="2579392" cy="42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1"/>
              </a:lnSpc>
            </a:pPr>
            <a:r>
              <a:rPr lang="en-US" b="true" sz="3201" spc="-176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🎯 SLIDE :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9744" y="3472204"/>
            <a:ext cx="3809213" cy="232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884" indent="-329442" lvl="1">
              <a:lnSpc>
                <a:spcPts val="4699"/>
              </a:lnSpc>
              <a:buAutoNum type="arabicPeriod" startAt="1"/>
            </a:pPr>
            <a:r>
              <a:rPr lang="en-US" sz="3051" spc="253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Understand what phishing is</a:t>
            </a:r>
          </a:p>
          <a:p>
            <a:pPr algn="ctr" marL="0" indent="0" lvl="0">
              <a:lnSpc>
                <a:spcPts val="469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921784" y="7136155"/>
            <a:ext cx="2759238" cy="229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sz="3000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2 . Identify common phishing techniques</a:t>
            </a:r>
          </a:p>
          <a:p>
            <a:pPr algn="ctr" marL="0" indent="0" lvl="0">
              <a:lnSpc>
                <a:spcPts val="362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205145" y="5904952"/>
            <a:ext cx="2701622" cy="242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3011" spc="313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3.Recognize suspicious emails and websites</a:t>
            </a:r>
          </a:p>
          <a:p>
            <a:pPr algn="ctr" marL="0" indent="0" lvl="0">
              <a:lnSpc>
                <a:spcPts val="388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75314">
            <a:off x="362612" y="448950"/>
            <a:ext cx="895257" cy="647841"/>
          </a:xfrm>
          <a:custGeom>
            <a:avLst/>
            <a:gdLst/>
            <a:ahLst/>
            <a:cxnLst/>
            <a:rect r="r" b="b" t="t" l="l"/>
            <a:pathLst>
              <a:path h="647841" w="895257">
                <a:moveTo>
                  <a:pt x="0" y="0"/>
                </a:moveTo>
                <a:lnTo>
                  <a:pt x="895257" y="0"/>
                </a:lnTo>
                <a:lnTo>
                  <a:pt x="895257" y="647841"/>
                </a:lnTo>
                <a:lnTo>
                  <a:pt x="0" y="647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3909884">
            <a:off x="12613941" y="164385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8" y="14625633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19291" y="2253933"/>
            <a:ext cx="6358575" cy="635857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832" y="0"/>
                  </a:moveTo>
                  <a:lnTo>
                    <a:pt x="768968" y="0"/>
                  </a:lnTo>
                  <a:cubicBezTo>
                    <a:pt x="793176" y="0"/>
                    <a:pt x="812800" y="19624"/>
                    <a:pt x="812800" y="43832"/>
                  </a:cubicBezTo>
                  <a:lnTo>
                    <a:pt x="812800" y="768968"/>
                  </a:lnTo>
                  <a:cubicBezTo>
                    <a:pt x="812800" y="793176"/>
                    <a:pt x="793176" y="812800"/>
                    <a:pt x="768968" y="812800"/>
                  </a:cubicBezTo>
                  <a:lnTo>
                    <a:pt x="43832" y="812800"/>
                  </a:lnTo>
                  <a:cubicBezTo>
                    <a:pt x="19624" y="812800"/>
                    <a:pt x="0" y="793176"/>
                    <a:pt x="0" y="768968"/>
                  </a:cubicBezTo>
                  <a:lnTo>
                    <a:pt x="0" y="43832"/>
                  </a:lnTo>
                  <a:cubicBezTo>
                    <a:pt x="0" y="19624"/>
                    <a:pt x="19624" y="0"/>
                    <a:pt x="43832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38100" cap="rnd">
              <a:solidFill>
                <a:srgbClr val="E7F2FA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209201" y="1911679"/>
            <a:ext cx="8078799" cy="8375321"/>
            <a:chOff x="0" y="0"/>
            <a:chExt cx="2602994" cy="26985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02994" cy="2698534"/>
            </a:xfrm>
            <a:custGeom>
              <a:avLst/>
              <a:gdLst/>
              <a:ahLst/>
              <a:cxnLst/>
              <a:rect r="r" b="b" t="t" l="l"/>
              <a:pathLst>
                <a:path h="2698534" w="2602994">
                  <a:moveTo>
                    <a:pt x="28749" y="0"/>
                  </a:moveTo>
                  <a:lnTo>
                    <a:pt x="2574245" y="0"/>
                  </a:lnTo>
                  <a:cubicBezTo>
                    <a:pt x="2590123" y="0"/>
                    <a:pt x="2602994" y="12871"/>
                    <a:pt x="2602994" y="28749"/>
                  </a:cubicBezTo>
                  <a:lnTo>
                    <a:pt x="2602994" y="2669785"/>
                  </a:lnTo>
                  <a:cubicBezTo>
                    <a:pt x="2602994" y="2685662"/>
                    <a:pt x="2590123" y="2698534"/>
                    <a:pt x="2574245" y="2698534"/>
                  </a:cubicBezTo>
                  <a:lnTo>
                    <a:pt x="28749" y="2698534"/>
                  </a:lnTo>
                  <a:cubicBezTo>
                    <a:pt x="12871" y="2698534"/>
                    <a:pt x="0" y="2685662"/>
                    <a:pt x="0" y="2669785"/>
                  </a:cubicBezTo>
                  <a:lnTo>
                    <a:pt x="0" y="28749"/>
                  </a:lnTo>
                  <a:cubicBezTo>
                    <a:pt x="0" y="12871"/>
                    <a:pt x="12871" y="0"/>
                    <a:pt x="287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02994" cy="2736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035216" y="599946"/>
            <a:ext cx="8558486" cy="165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1"/>
              </a:lnSpc>
            </a:pPr>
            <a:r>
              <a:rPr lang="en-US" sz="6371" spc="-350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What is Phishing?</a:t>
            </a:r>
          </a:p>
          <a:p>
            <a:pPr algn="l" marL="0" indent="0" lvl="0">
              <a:lnSpc>
                <a:spcPts val="637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30021"/>
            <a:ext cx="3017166" cy="79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048" spc="-167" b="true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🧠 SLIDE : 3 </a:t>
            </a:r>
          </a:p>
          <a:p>
            <a:pPr algn="l" marL="0" indent="0" lvl="0">
              <a:lnSpc>
                <a:spcPts val="304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391565" y="2040103"/>
            <a:ext cx="7663038" cy="796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1"/>
              </a:lnSpc>
            </a:pPr>
            <a:r>
              <a:rPr lang="en-US" b="true" sz="3113" i="true" u="sng">
                <a:solidFill>
                  <a:srgbClr val="FFC700"/>
                </a:solidFill>
                <a:latin typeface="Roca One Heavy Italics"/>
                <a:ea typeface="Roca One Heavy Italics"/>
                <a:cs typeface="Roca One Heavy Italics"/>
                <a:sym typeface="Roca One Heavy Italics"/>
              </a:rPr>
              <a:t>PHISHING  IS  A  TYPE  OF  CYBER ATTACK  WHERE  ATTACKERS ATTEMPT  TO  TRICK  INDIVIDUALS INTO REVEALING  SENSITIVE INFORMATION  SUCH AS</a:t>
            </a:r>
          </a:p>
          <a:p>
            <a:pPr algn="l">
              <a:lnSpc>
                <a:spcPts val="4296"/>
              </a:lnSpc>
            </a:pPr>
          </a:p>
          <a:p>
            <a:pPr algn="l">
              <a:lnSpc>
                <a:spcPts val="4296"/>
              </a:lnSpc>
            </a:pPr>
            <a:r>
              <a:rPr lang="en-US" b="true" sz="3113" spc="-211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  1 .</a:t>
            </a:r>
            <a:r>
              <a:rPr lang="en-US" sz="3113" spc="-211" b="true">
                <a:solidFill>
                  <a:srgbClr val="5CE1E6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 Usernames and passwords</a:t>
            </a:r>
          </a:p>
          <a:p>
            <a:pPr algn="l">
              <a:lnSpc>
                <a:spcPts val="4296"/>
              </a:lnSpc>
            </a:pPr>
          </a:p>
          <a:p>
            <a:pPr algn="l">
              <a:lnSpc>
                <a:spcPts val="4296"/>
              </a:lnSpc>
            </a:pPr>
            <a:r>
              <a:rPr lang="en-US" b="true" sz="3113" spc="-211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  2 . </a:t>
            </a:r>
            <a:r>
              <a:rPr lang="en-US" sz="3113" spc="-211" b="true">
                <a:solidFill>
                  <a:srgbClr val="5CE1E6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Banking details</a:t>
            </a:r>
          </a:p>
          <a:p>
            <a:pPr algn="l">
              <a:lnSpc>
                <a:spcPts val="4296"/>
              </a:lnSpc>
            </a:pPr>
          </a:p>
          <a:p>
            <a:pPr algn="l">
              <a:lnSpc>
                <a:spcPts val="4296"/>
              </a:lnSpc>
            </a:pPr>
            <a:r>
              <a:rPr lang="en-US" b="true" sz="3113" spc="-211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  3 . </a:t>
            </a:r>
            <a:r>
              <a:rPr lang="en-US" sz="3113" spc="-211" b="true">
                <a:solidFill>
                  <a:srgbClr val="5CE1E6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Personal data</a:t>
            </a:r>
          </a:p>
          <a:p>
            <a:pPr algn="l">
              <a:lnSpc>
                <a:spcPts val="4296"/>
              </a:lnSpc>
            </a:pPr>
          </a:p>
          <a:p>
            <a:pPr algn="l" marL="0" indent="0" lvl="0">
              <a:lnSpc>
                <a:spcPts val="4296"/>
              </a:lnSpc>
            </a:pPr>
            <a:r>
              <a:rPr lang="en-US" b="true" sz="3113" spc="-211">
                <a:solidFill>
                  <a:srgbClr val="5CE1E6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These attacks are commonly delivered through emails, messages, or  fake websites.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700261" y="-15109961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0931" y="-1580562"/>
            <a:ext cx="23235874" cy="21039028"/>
          </a:xfrm>
          <a:custGeom>
            <a:avLst/>
            <a:gdLst/>
            <a:ahLst/>
            <a:cxnLst/>
            <a:rect r="r" b="b" t="t" l="l"/>
            <a:pathLst>
              <a:path h="21039028" w="23235874">
                <a:moveTo>
                  <a:pt x="0" y="0"/>
                </a:moveTo>
                <a:lnTo>
                  <a:pt x="23235873" y="0"/>
                </a:lnTo>
                <a:lnTo>
                  <a:pt x="23235873" y="21039028"/>
                </a:lnTo>
                <a:lnTo>
                  <a:pt x="0" y="21039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75314">
            <a:off x="6657443" y="765514"/>
            <a:ext cx="727397" cy="526371"/>
          </a:xfrm>
          <a:custGeom>
            <a:avLst/>
            <a:gdLst/>
            <a:ahLst/>
            <a:cxnLst/>
            <a:rect r="r" b="b" t="t" l="l"/>
            <a:pathLst>
              <a:path h="526371" w="727397">
                <a:moveTo>
                  <a:pt x="0" y="0"/>
                </a:moveTo>
                <a:lnTo>
                  <a:pt x="727397" y="0"/>
                </a:lnTo>
                <a:lnTo>
                  <a:pt x="727397" y="526372"/>
                </a:lnTo>
                <a:lnTo>
                  <a:pt x="0" y="526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49384" y="2765456"/>
            <a:ext cx="3835914" cy="38359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31307" y="6577881"/>
            <a:ext cx="2942865" cy="294286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131B"/>
            </a:solidFill>
            <a:ln w="19050" cap="sq">
              <a:solidFill>
                <a:srgbClr val="E7F2F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68111" y="4411980"/>
            <a:ext cx="4526972" cy="45269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77181" y="2210157"/>
            <a:ext cx="2924594" cy="292459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131B"/>
            </a:solidFill>
            <a:ln w="38100" cap="sq">
              <a:solidFill>
                <a:srgbClr val="E7F2F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603227" y="2314932"/>
            <a:ext cx="8269654" cy="148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5"/>
              </a:lnSpc>
            </a:pPr>
            <a:r>
              <a:rPr lang="en-US" sz="5725" spc="-314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TYPES OF PHISHING</a:t>
            </a:r>
          </a:p>
          <a:p>
            <a:pPr algn="ctr" marL="0" indent="0" lvl="0">
              <a:lnSpc>
                <a:spcPts val="572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230519" y="1095375"/>
            <a:ext cx="3164813" cy="82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7"/>
              </a:lnSpc>
            </a:pPr>
            <a:r>
              <a:rPr lang="en-US" sz="3197" spc="-175" b="true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🎭 SLIDE : 4 </a:t>
            </a:r>
          </a:p>
          <a:p>
            <a:pPr algn="l" marL="0" indent="0" lvl="0">
              <a:lnSpc>
                <a:spcPts val="319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56048" y="4213113"/>
            <a:ext cx="3647179" cy="92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b="true" sz="2400" i="true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1. </a:t>
            </a:r>
            <a:r>
              <a:rPr lang="en-US" b="true" sz="2400" i="true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EMAIL PHISHING: MASS FRAUDULENT EMAILS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22045" y="7690038"/>
            <a:ext cx="2752127" cy="747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b="true" sz="1913" i="true" spc="-105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</a:t>
            </a:r>
            <a:r>
              <a:rPr lang="en-US" b="true" sz="1913" i="true" spc="-105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2.</a:t>
            </a:r>
            <a:r>
              <a:rPr lang="en-US" b="true" sz="1913" i="true" spc="-105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SPEAR PHISHING: TARGETED ATTACKS ON INDIVIDUALS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10332" y="6207350"/>
            <a:ext cx="4902301" cy="99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b="true" sz="2489" i="true" spc="-136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</a:t>
            </a:r>
            <a:r>
              <a:rPr lang="en-US" b="true" sz="2489" i="true" spc="-136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3. </a:t>
            </a:r>
            <a:r>
              <a:rPr lang="en-US" b="true" sz="2489" i="true" spc="-136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Whaling:</a:t>
            </a:r>
            <a:r>
              <a:rPr lang="en-US" b="true" sz="2489" i="true" spc="-136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Attacks on executives or high-level staff</a:t>
            </a:r>
          </a:p>
          <a:p>
            <a:pPr algn="ctr" marL="0" indent="0" lvl="0">
              <a:lnSpc>
                <a:spcPts val="27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777181" y="3329739"/>
            <a:ext cx="2924594" cy="103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b="true" sz="2015" i="true" spc="-110">
                <a:solidFill>
                  <a:srgbClr val="E7F2FA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4. </a:t>
            </a:r>
            <a:r>
              <a:rPr lang="en-US" b="true" sz="2015" i="true" spc="-110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Smishing:</a:t>
            </a:r>
            <a:r>
              <a:rPr lang="en-US" b="true" sz="2015" i="true" spc="-110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Phishing via SMS</a:t>
            </a:r>
          </a:p>
          <a:p>
            <a:pPr algn="ctr" marL="0" indent="0" lvl="0">
              <a:lnSpc>
                <a:spcPts val="2015"/>
              </a:lnSpc>
            </a:pPr>
          </a:p>
          <a:p>
            <a:pPr algn="ctr" marL="0" indent="0" lvl="0">
              <a:lnSpc>
                <a:spcPts val="2015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3110919" y="5948822"/>
            <a:ext cx="3590855" cy="3309478"/>
            <a:chOff x="0" y="0"/>
            <a:chExt cx="629816" cy="5804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9816" cy="580464"/>
            </a:xfrm>
            <a:custGeom>
              <a:avLst/>
              <a:gdLst/>
              <a:ahLst/>
              <a:cxnLst/>
              <a:rect r="r" b="b" t="t" l="l"/>
              <a:pathLst>
                <a:path h="580464" w="629816">
                  <a:moveTo>
                    <a:pt x="314908" y="0"/>
                  </a:moveTo>
                  <a:cubicBezTo>
                    <a:pt x="140989" y="0"/>
                    <a:pt x="0" y="129941"/>
                    <a:pt x="0" y="290232"/>
                  </a:cubicBezTo>
                  <a:cubicBezTo>
                    <a:pt x="0" y="450523"/>
                    <a:pt x="140989" y="580464"/>
                    <a:pt x="314908" y="580464"/>
                  </a:cubicBezTo>
                  <a:cubicBezTo>
                    <a:pt x="488827" y="580464"/>
                    <a:pt x="629816" y="450523"/>
                    <a:pt x="629816" y="290232"/>
                  </a:cubicBezTo>
                  <a:cubicBezTo>
                    <a:pt x="629816" y="129941"/>
                    <a:pt x="488827" y="0"/>
                    <a:pt x="3149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59045" y="102043"/>
              <a:ext cx="511725" cy="424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1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239161" y="7248356"/>
            <a:ext cx="3462614" cy="85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2291" i="true" spc="-126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   </a:t>
            </a:r>
            <a:r>
              <a:rPr lang="en-US" b="true" sz="2291" i="true" spc="-126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5 </a:t>
            </a:r>
            <a:r>
              <a:rPr lang="en-US" sz="2291" i="true" spc="-126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. </a:t>
            </a:r>
            <a:r>
              <a:rPr lang="en-US" b="true" sz="2291" i="true" spc="-126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VISHING: PHISHING   VIA  PHONE CALLS</a:t>
            </a:r>
          </a:p>
          <a:p>
            <a:pPr algn="l">
              <a:lnSpc>
                <a:spcPts val="2291"/>
              </a:lnSpc>
            </a:pPr>
            <a:r>
              <a:rPr lang="en-US" b="true" sz="2291" i="true" spc="-126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75314">
            <a:off x="1023815" y="762784"/>
            <a:ext cx="819905" cy="593313"/>
          </a:xfrm>
          <a:custGeom>
            <a:avLst/>
            <a:gdLst/>
            <a:ahLst/>
            <a:cxnLst/>
            <a:rect r="r" b="b" t="t" l="l"/>
            <a:pathLst>
              <a:path h="593313" w="819905">
                <a:moveTo>
                  <a:pt x="0" y="0"/>
                </a:moveTo>
                <a:lnTo>
                  <a:pt x="819905" y="0"/>
                </a:lnTo>
                <a:lnTo>
                  <a:pt x="819905" y="593313"/>
                </a:lnTo>
                <a:lnTo>
                  <a:pt x="0" y="59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3909884">
            <a:off x="12613941" y="164385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8" y="14625633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19291" y="2253933"/>
            <a:ext cx="6358575" cy="635857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832" y="0"/>
                  </a:moveTo>
                  <a:lnTo>
                    <a:pt x="768968" y="0"/>
                  </a:lnTo>
                  <a:cubicBezTo>
                    <a:pt x="793176" y="0"/>
                    <a:pt x="812800" y="19624"/>
                    <a:pt x="812800" y="43832"/>
                  </a:cubicBezTo>
                  <a:lnTo>
                    <a:pt x="812800" y="768968"/>
                  </a:lnTo>
                  <a:cubicBezTo>
                    <a:pt x="812800" y="793176"/>
                    <a:pt x="793176" y="812800"/>
                    <a:pt x="768968" y="812800"/>
                  </a:cubicBezTo>
                  <a:lnTo>
                    <a:pt x="43832" y="812800"/>
                  </a:lnTo>
                  <a:cubicBezTo>
                    <a:pt x="19624" y="812800"/>
                    <a:pt x="0" y="793176"/>
                    <a:pt x="0" y="768968"/>
                  </a:cubicBezTo>
                  <a:lnTo>
                    <a:pt x="0" y="43832"/>
                  </a:lnTo>
                  <a:cubicBezTo>
                    <a:pt x="0" y="19624"/>
                    <a:pt x="19624" y="0"/>
                    <a:pt x="43832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38100" cap="rnd">
              <a:solidFill>
                <a:srgbClr val="E7F2FA"/>
              </a:solidFill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1046033" y="680391"/>
            <a:ext cx="8155023" cy="2141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5576" spc="-306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SOCIAL  ENGINEERING   TECHNIQUES</a:t>
            </a:r>
          </a:p>
          <a:p>
            <a:pPr algn="l" marL="0" indent="0" lvl="0">
              <a:lnSpc>
                <a:spcPts val="557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34714" y="1085850"/>
            <a:ext cx="2969155" cy="82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76" b="true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🧨 SLIDE : 5 </a:t>
            </a:r>
          </a:p>
          <a:p>
            <a:pPr algn="l" marL="0" indent="0" lvl="0">
              <a:lnSpc>
                <a:spcPts val="3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751529" y="2900575"/>
            <a:ext cx="7658212" cy="457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</a:p>
          <a:p>
            <a:pPr algn="l">
              <a:lnSpc>
                <a:spcPts val="6203"/>
              </a:lnSpc>
            </a:pPr>
            <a:r>
              <a:rPr lang="en-US" b="true" sz="4495" i="true" spc="-305" u="sng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ATTACKERS MANIPULATE HUMAN BEHAVIOR USING</a:t>
            </a:r>
          </a:p>
          <a:p>
            <a:pPr algn="l" marL="561341" indent="-280670" lvl="1">
              <a:lnSpc>
                <a:spcPts val="3588"/>
              </a:lnSpc>
              <a:buFont typeface="Arial"/>
              <a:buChar char="•"/>
            </a:pPr>
            <a:r>
              <a:rPr lang="en-US" b="true" sz="2600" spc="-176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Semi-Bold"/>
                <a:ea typeface="Montserrat Semi-Bold"/>
                <a:cs typeface="Montserrat Semi-Bold"/>
                <a:sym typeface="Montserrat Semi-Bold"/>
              </a:rPr>
              <a:t>Urgency</a:t>
            </a:r>
            <a:r>
              <a:rPr lang="en-US" b="true" sz="2600" spc="-176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:</a:t>
            </a:r>
            <a:r>
              <a:rPr lang="en-US" sz="2600" spc="-176">
                <a:solidFill>
                  <a:srgbClr val="E7F2FA"/>
                </a:solidFill>
                <a:latin typeface="Montserrat"/>
                <a:ea typeface="Montserrat"/>
                <a:cs typeface="Montserrat"/>
                <a:sym typeface="Montserrat"/>
              </a:rPr>
              <a:t> Immediate action required</a:t>
            </a:r>
          </a:p>
          <a:p>
            <a:pPr algn="l" marL="561341" indent="-280670" lvl="1">
              <a:lnSpc>
                <a:spcPts val="3588"/>
              </a:lnSpc>
              <a:buFont typeface="Arial"/>
              <a:buChar char="•"/>
            </a:pPr>
            <a:r>
              <a:rPr lang="en-US" b="true" sz="2600" spc="-176">
                <a:solidFill>
                  <a:srgbClr val="E9E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Fear</a:t>
            </a:r>
            <a:r>
              <a:rPr lang="en-US" b="true" sz="2600" spc="-176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:</a:t>
            </a:r>
            <a:r>
              <a:rPr lang="en-US" sz="2600" spc="-176">
                <a:solidFill>
                  <a:srgbClr val="E7F2FA"/>
                </a:solidFill>
                <a:latin typeface="Montserrat"/>
                <a:ea typeface="Montserrat"/>
                <a:cs typeface="Montserrat"/>
                <a:sym typeface="Montserrat"/>
              </a:rPr>
              <a:t> Your account will be locked</a:t>
            </a:r>
          </a:p>
          <a:p>
            <a:pPr algn="l" marL="561341" indent="-280670" lvl="1">
              <a:lnSpc>
                <a:spcPts val="3588"/>
              </a:lnSpc>
              <a:buFont typeface="Arial"/>
              <a:buChar char="•"/>
            </a:pPr>
            <a:r>
              <a:rPr lang="en-US" b="true" sz="2600" spc="-176">
                <a:solidFill>
                  <a:srgbClr val="E9E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Authority</a:t>
            </a:r>
            <a:r>
              <a:rPr lang="en-US" b="true" sz="2600" spc="-176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:</a:t>
            </a:r>
            <a:r>
              <a:rPr lang="en-US" sz="2600" spc="-176">
                <a:solidFill>
                  <a:srgbClr val="E7F2FA"/>
                </a:solidFill>
                <a:latin typeface="Montserrat"/>
                <a:ea typeface="Montserrat"/>
                <a:cs typeface="Montserrat"/>
                <a:sym typeface="Montserrat"/>
              </a:rPr>
              <a:t> Impersonating banks or officials</a:t>
            </a:r>
          </a:p>
          <a:p>
            <a:pPr algn="l" marL="561341" indent="-280670" lvl="1">
              <a:lnSpc>
                <a:spcPts val="3588"/>
              </a:lnSpc>
              <a:buFont typeface="Arial"/>
              <a:buChar char="•"/>
            </a:pPr>
            <a:r>
              <a:rPr lang="en-US" b="true" sz="2600" spc="-176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Incentives :</a:t>
            </a:r>
            <a:r>
              <a:rPr lang="en-US" sz="2600" spc="-176">
                <a:solidFill>
                  <a:srgbClr val="E7F2FA"/>
                </a:solidFill>
                <a:latin typeface="Montserrat"/>
                <a:ea typeface="Montserrat"/>
                <a:cs typeface="Montserrat"/>
                <a:sym typeface="Montserrat"/>
              </a:rPr>
              <a:t> Fake rewards or offers</a:t>
            </a:r>
          </a:p>
          <a:p>
            <a:pPr algn="l" marL="0" indent="0" lvl="0">
              <a:lnSpc>
                <a:spcPts val="358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75314">
            <a:off x="1019374" y="750984"/>
            <a:ext cx="832151" cy="602175"/>
          </a:xfrm>
          <a:custGeom>
            <a:avLst/>
            <a:gdLst/>
            <a:ahLst/>
            <a:cxnLst/>
            <a:rect r="r" b="b" t="t" l="l"/>
            <a:pathLst>
              <a:path h="602175" w="832151">
                <a:moveTo>
                  <a:pt x="0" y="0"/>
                </a:moveTo>
                <a:lnTo>
                  <a:pt x="832151" y="0"/>
                </a:lnTo>
                <a:lnTo>
                  <a:pt x="832151" y="602175"/>
                </a:lnTo>
                <a:lnTo>
                  <a:pt x="0" y="602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3909884">
            <a:off x="5503188" y="-58807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7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7" y="14625634"/>
                </a:lnTo>
                <a:lnTo>
                  <a:pt x="14319657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19291" y="2253933"/>
            <a:ext cx="6358575" cy="635857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48000">
              <a:off x="-5027" y="-5027"/>
              <a:ext cx="822854" cy="822854"/>
            </a:xfrm>
            <a:custGeom>
              <a:avLst/>
              <a:gdLst/>
              <a:ahLst/>
              <a:cxnLst/>
              <a:rect r="r" b="b" t="t" l="l"/>
              <a:pathLst>
                <a:path h="822854" w="822854">
                  <a:moveTo>
                    <a:pt x="43220" y="10129"/>
                  </a:moveTo>
                  <a:lnTo>
                    <a:pt x="768285" y="4"/>
                  </a:lnTo>
                  <a:cubicBezTo>
                    <a:pt x="792491" y="-334"/>
                    <a:pt x="812387" y="19015"/>
                    <a:pt x="812725" y="43220"/>
                  </a:cubicBezTo>
                  <a:lnTo>
                    <a:pt x="822850" y="768285"/>
                  </a:lnTo>
                  <a:cubicBezTo>
                    <a:pt x="823188" y="792491"/>
                    <a:pt x="803839" y="812387"/>
                    <a:pt x="779634" y="812725"/>
                  </a:cubicBezTo>
                  <a:lnTo>
                    <a:pt x="54569" y="822850"/>
                  </a:lnTo>
                  <a:cubicBezTo>
                    <a:pt x="30363" y="823188"/>
                    <a:pt x="10467" y="803839"/>
                    <a:pt x="10129" y="779634"/>
                  </a:cubicBezTo>
                  <a:lnTo>
                    <a:pt x="4" y="54569"/>
                  </a:lnTo>
                  <a:cubicBezTo>
                    <a:pt x="-334" y="30363"/>
                    <a:pt x="19015" y="10467"/>
                    <a:pt x="43220" y="10129"/>
                  </a:cubicBezTo>
                  <a:close/>
                </a:path>
              </a:pathLst>
            </a:custGeom>
            <a:blipFill>
              <a:blip r:embed="rId6"/>
              <a:stretch>
                <a:fillRect l="-54200" t="-15963" r="-19194" b="-57431"/>
              </a:stretch>
            </a:blipFill>
            <a:ln w="38100" cap="rnd">
              <a:solidFill>
                <a:srgbClr val="E7F2FA"/>
              </a:solidFill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1312245" y="1205912"/>
            <a:ext cx="6975755" cy="220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2"/>
              </a:lnSpc>
            </a:pPr>
            <a:r>
              <a:rPr lang="en-US" sz="5722" spc="-314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 Identifying Phishing Emails</a:t>
            </a:r>
          </a:p>
          <a:p>
            <a:pPr algn="l" marL="0" indent="0" lvl="0">
              <a:lnSpc>
                <a:spcPts val="572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12847" y="1085850"/>
            <a:ext cx="2969155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0"/>
              </a:lnSpc>
            </a:pPr>
            <a:r>
              <a:rPr lang="en-US" b="true" sz="3200" spc="-176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📧 SLIDE : 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3308" y="3659255"/>
            <a:ext cx="8004692" cy="258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3"/>
              </a:lnSpc>
            </a:pPr>
            <a:r>
              <a:rPr lang="en-US" b="true" sz="3191" i="true" spc="-216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BE CAUTIOUS OF EMAILS THAT CONTAIN:</a:t>
            </a:r>
          </a:p>
          <a:p>
            <a:pPr algn="l" marL="511582" indent="-255791" lvl="1">
              <a:lnSpc>
                <a:spcPts val="3269"/>
              </a:lnSpc>
              <a:buFont typeface="Arial"/>
              <a:buChar char="•"/>
            </a:pPr>
            <a:r>
              <a:rPr lang="en-US" b="true" sz="2369" i="true" spc="-161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Unfamiliar or suspicious sender addresses</a:t>
            </a:r>
          </a:p>
          <a:p>
            <a:pPr algn="l" marL="511582" indent="-255791" lvl="1">
              <a:lnSpc>
                <a:spcPts val="3269"/>
              </a:lnSpc>
              <a:buFont typeface="Arial"/>
              <a:buChar char="•"/>
            </a:pPr>
            <a:r>
              <a:rPr lang="en-US" b="true" sz="2369" i="true" spc="-161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Spelling or grammatical errors</a:t>
            </a:r>
          </a:p>
          <a:p>
            <a:pPr algn="l" marL="511582" indent="-255791" lvl="1">
              <a:lnSpc>
                <a:spcPts val="3269"/>
              </a:lnSpc>
              <a:buFont typeface="Arial"/>
              <a:buChar char="•"/>
            </a:pPr>
            <a:r>
              <a:rPr lang="en-US" b="true" sz="2369" i="true" spc="-161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Urgent or threatening language</a:t>
            </a:r>
          </a:p>
          <a:p>
            <a:pPr algn="l" marL="511582" indent="-255791" lvl="1">
              <a:lnSpc>
                <a:spcPts val="3269"/>
              </a:lnSpc>
              <a:buFont typeface="Arial"/>
              <a:buChar char="•"/>
            </a:pPr>
            <a:r>
              <a:rPr lang="en-US" b="true" sz="2369" i="true" spc="-161">
                <a:gradFill>
                  <a:gsLst>
                    <a:gs pos="0">
                      <a:srgbClr val="F7D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87EFFF">
                        <a:alpha val="100000"/>
                      </a:srgbClr>
                    </a:gs>
                  </a:gsLst>
                  <a:lin ang="2700000"/>
                </a:gra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Unexpected attachments or links</a:t>
            </a:r>
          </a:p>
          <a:p>
            <a:pPr algn="l" marL="0" indent="0" lvl="0">
              <a:lnSpc>
                <a:spcPts val="326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75314">
            <a:off x="1018510" y="748690"/>
            <a:ext cx="834532" cy="603898"/>
          </a:xfrm>
          <a:custGeom>
            <a:avLst/>
            <a:gdLst/>
            <a:ahLst/>
            <a:cxnLst/>
            <a:rect r="r" b="b" t="t" l="l"/>
            <a:pathLst>
              <a:path h="603898" w="834532">
                <a:moveTo>
                  <a:pt x="0" y="0"/>
                </a:moveTo>
                <a:lnTo>
                  <a:pt x="834532" y="0"/>
                </a:lnTo>
                <a:lnTo>
                  <a:pt x="834532" y="603898"/>
                </a:lnTo>
                <a:lnTo>
                  <a:pt x="0" y="603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3909884">
            <a:off x="-351451" y="-2513912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8" y="14625633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95458" y="2238771"/>
            <a:ext cx="6358575" cy="635857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3832" y="0"/>
                  </a:moveTo>
                  <a:lnTo>
                    <a:pt x="768968" y="0"/>
                  </a:lnTo>
                  <a:cubicBezTo>
                    <a:pt x="793176" y="0"/>
                    <a:pt x="812800" y="19624"/>
                    <a:pt x="812800" y="43832"/>
                  </a:cubicBezTo>
                  <a:lnTo>
                    <a:pt x="812800" y="768968"/>
                  </a:lnTo>
                  <a:cubicBezTo>
                    <a:pt x="812800" y="793176"/>
                    <a:pt x="793176" y="812800"/>
                    <a:pt x="768968" y="812800"/>
                  </a:cubicBezTo>
                  <a:lnTo>
                    <a:pt x="43832" y="812800"/>
                  </a:lnTo>
                  <a:cubicBezTo>
                    <a:pt x="19624" y="812800"/>
                    <a:pt x="0" y="793176"/>
                    <a:pt x="0" y="768968"/>
                  </a:cubicBezTo>
                  <a:lnTo>
                    <a:pt x="0" y="43832"/>
                  </a:lnTo>
                  <a:cubicBezTo>
                    <a:pt x="0" y="19624"/>
                    <a:pt x="19624" y="0"/>
                    <a:pt x="43832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0849" r="-71797" b="-60947"/>
              </a:stretch>
            </a:blipFill>
            <a:ln w="38100" cap="rnd">
              <a:solidFill>
                <a:srgbClr val="E7F2FA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82082" y="1409207"/>
            <a:ext cx="9052165" cy="6475654"/>
            <a:chOff x="0" y="0"/>
            <a:chExt cx="2916613" cy="20864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16613" cy="2086460"/>
            </a:xfrm>
            <a:custGeom>
              <a:avLst/>
              <a:gdLst/>
              <a:ahLst/>
              <a:cxnLst/>
              <a:rect r="r" b="b" t="t" l="l"/>
              <a:pathLst>
                <a:path h="2086460" w="2916613">
                  <a:moveTo>
                    <a:pt x="64999" y="0"/>
                  </a:moveTo>
                  <a:lnTo>
                    <a:pt x="2851614" y="0"/>
                  </a:lnTo>
                  <a:cubicBezTo>
                    <a:pt x="2887512" y="0"/>
                    <a:pt x="2916613" y="29101"/>
                    <a:pt x="2916613" y="64999"/>
                  </a:cubicBezTo>
                  <a:lnTo>
                    <a:pt x="2916613" y="2021461"/>
                  </a:lnTo>
                  <a:cubicBezTo>
                    <a:pt x="2916613" y="2057359"/>
                    <a:pt x="2887512" y="2086460"/>
                    <a:pt x="2851614" y="2086460"/>
                  </a:cubicBezTo>
                  <a:lnTo>
                    <a:pt x="64999" y="2086460"/>
                  </a:lnTo>
                  <a:cubicBezTo>
                    <a:pt x="29101" y="2086460"/>
                    <a:pt x="0" y="2057359"/>
                    <a:pt x="0" y="2021461"/>
                  </a:cubicBezTo>
                  <a:lnTo>
                    <a:pt x="0" y="64999"/>
                  </a:lnTo>
                  <a:cubicBezTo>
                    <a:pt x="0" y="29101"/>
                    <a:pt x="29101" y="0"/>
                    <a:pt x="649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16613" cy="2124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73274" y="2018289"/>
            <a:ext cx="8614726" cy="222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1"/>
              </a:lnSpc>
            </a:pPr>
            <a:r>
              <a:rPr lang="en-US" sz="4967" spc="884" u="sng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Identifying Fake Websites</a:t>
            </a:r>
          </a:p>
          <a:p>
            <a:pPr algn="l" marL="0" indent="0" lvl="0">
              <a:lnSpc>
                <a:spcPts val="586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91107" y="1138167"/>
            <a:ext cx="2969155" cy="41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8"/>
              </a:lnSpc>
            </a:pPr>
            <a:r>
              <a:rPr lang="en-US" b="true" sz="3198" spc="-175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🌐 SLIDE 7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6270" y="3929813"/>
            <a:ext cx="7360650" cy="323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1"/>
              </a:lnSpc>
            </a:pPr>
            <a:r>
              <a:rPr lang="en-US" b="true" sz="3269" i="true" spc="-222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Check for the following signs:</a:t>
            </a:r>
          </a:p>
          <a:p>
            <a:pPr algn="l" marL="705792" indent="-352896" lvl="1">
              <a:lnSpc>
                <a:spcPts val="4511"/>
              </a:lnSpc>
              <a:buFont typeface="Arial"/>
              <a:buChar char="•"/>
            </a:pPr>
            <a:r>
              <a:rPr lang="en-US" b="true" sz="3269" i="true" spc="-222">
                <a:solidFill>
                  <a:srgbClr val="E9E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Incorrect or misspelled URLs</a:t>
            </a:r>
          </a:p>
          <a:p>
            <a:pPr algn="l" marL="705792" indent="-352896" lvl="1">
              <a:lnSpc>
                <a:spcPts val="4511"/>
              </a:lnSpc>
              <a:buFont typeface="Arial"/>
              <a:buChar char="•"/>
            </a:pPr>
            <a:r>
              <a:rPr lang="en-US" b="true" sz="3269" i="true" spc="-222">
                <a:solidFill>
                  <a:srgbClr val="E9E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Absence of HTTPS (🔒)</a:t>
            </a:r>
          </a:p>
          <a:p>
            <a:pPr algn="l" marL="705792" indent="-352896" lvl="1">
              <a:lnSpc>
                <a:spcPts val="4511"/>
              </a:lnSpc>
              <a:buFont typeface="Arial"/>
              <a:buChar char="•"/>
            </a:pPr>
            <a:r>
              <a:rPr lang="en-US" b="true" sz="3269" i="true" spc="-222">
                <a:solidFill>
                  <a:srgbClr val="E9E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Poor design or layout</a:t>
            </a:r>
          </a:p>
          <a:p>
            <a:pPr algn="l" marL="705792" indent="-352896" lvl="1">
              <a:lnSpc>
                <a:spcPts val="4511"/>
              </a:lnSpc>
              <a:buFont typeface="Arial"/>
              <a:buChar char="•"/>
            </a:pPr>
            <a:r>
              <a:rPr lang="en-US" b="true" sz="3269" i="true" spc="-222">
                <a:solidFill>
                  <a:srgbClr val="E9E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Requests for sensitive information</a:t>
            </a:r>
          </a:p>
          <a:p>
            <a:pPr algn="l" marL="0" indent="0" lvl="0">
              <a:lnSpc>
                <a:spcPts val="300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846507" y="1028700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43677" y="-14081261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628336" y="1863656"/>
            <a:ext cx="10275096" cy="7204885"/>
            <a:chOff x="0" y="0"/>
            <a:chExt cx="3310643" cy="2321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10643" cy="2321419"/>
            </a:xfrm>
            <a:custGeom>
              <a:avLst/>
              <a:gdLst/>
              <a:ahLst/>
              <a:cxnLst/>
              <a:rect r="r" b="b" t="t" l="l"/>
              <a:pathLst>
                <a:path h="2321419" w="3310643">
                  <a:moveTo>
                    <a:pt x="39934" y="0"/>
                  </a:moveTo>
                  <a:lnTo>
                    <a:pt x="3270709" y="0"/>
                  </a:lnTo>
                  <a:cubicBezTo>
                    <a:pt x="3281300" y="0"/>
                    <a:pt x="3291458" y="4207"/>
                    <a:pt x="3298947" y="11696"/>
                  </a:cubicBezTo>
                  <a:cubicBezTo>
                    <a:pt x="3306436" y="19185"/>
                    <a:pt x="3310643" y="29343"/>
                    <a:pt x="3310643" y="39934"/>
                  </a:cubicBezTo>
                  <a:lnTo>
                    <a:pt x="3310643" y="2281485"/>
                  </a:lnTo>
                  <a:cubicBezTo>
                    <a:pt x="3310643" y="2292076"/>
                    <a:pt x="3306436" y="2302233"/>
                    <a:pt x="3298947" y="2309722"/>
                  </a:cubicBezTo>
                  <a:cubicBezTo>
                    <a:pt x="3291458" y="2317211"/>
                    <a:pt x="3281300" y="2321419"/>
                    <a:pt x="3270709" y="2321419"/>
                  </a:cubicBezTo>
                  <a:lnTo>
                    <a:pt x="39934" y="2321419"/>
                  </a:lnTo>
                  <a:cubicBezTo>
                    <a:pt x="29343" y="2321419"/>
                    <a:pt x="19185" y="2317211"/>
                    <a:pt x="11696" y="2309722"/>
                  </a:cubicBezTo>
                  <a:cubicBezTo>
                    <a:pt x="4207" y="2302233"/>
                    <a:pt x="0" y="2292076"/>
                    <a:pt x="0" y="2281485"/>
                  </a:cubicBezTo>
                  <a:lnTo>
                    <a:pt x="0" y="39934"/>
                  </a:lnTo>
                  <a:cubicBezTo>
                    <a:pt x="0" y="29343"/>
                    <a:pt x="4207" y="19185"/>
                    <a:pt x="11696" y="11696"/>
                  </a:cubicBezTo>
                  <a:cubicBezTo>
                    <a:pt x="19185" y="4207"/>
                    <a:pt x="29343" y="0"/>
                    <a:pt x="39934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10643" cy="235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21772" y="3984532"/>
            <a:ext cx="6548829" cy="4016570"/>
            <a:chOff x="0" y="0"/>
            <a:chExt cx="2110037" cy="12941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0037" cy="1294142"/>
            </a:xfrm>
            <a:custGeom>
              <a:avLst/>
              <a:gdLst/>
              <a:ahLst/>
              <a:cxnLst/>
              <a:rect r="r" b="b" t="t" l="l"/>
              <a:pathLst>
                <a:path h="1294142" w="2110037">
                  <a:moveTo>
                    <a:pt x="118218" y="0"/>
                  </a:moveTo>
                  <a:lnTo>
                    <a:pt x="1991819" y="0"/>
                  </a:lnTo>
                  <a:cubicBezTo>
                    <a:pt x="2057109" y="0"/>
                    <a:pt x="2110037" y="52928"/>
                    <a:pt x="2110037" y="118218"/>
                  </a:cubicBezTo>
                  <a:lnTo>
                    <a:pt x="2110037" y="1175923"/>
                  </a:lnTo>
                  <a:cubicBezTo>
                    <a:pt x="2110037" y="1241213"/>
                    <a:pt x="2057109" y="1294142"/>
                    <a:pt x="1991819" y="1294142"/>
                  </a:cubicBezTo>
                  <a:lnTo>
                    <a:pt x="118218" y="1294142"/>
                  </a:lnTo>
                  <a:cubicBezTo>
                    <a:pt x="86865" y="1294142"/>
                    <a:pt x="56796" y="1281686"/>
                    <a:pt x="34625" y="1259516"/>
                  </a:cubicBezTo>
                  <a:cubicBezTo>
                    <a:pt x="12455" y="1237346"/>
                    <a:pt x="0" y="1207277"/>
                    <a:pt x="0" y="1175923"/>
                  </a:cubicBezTo>
                  <a:lnTo>
                    <a:pt x="0" y="118218"/>
                  </a:lnTo>
                  <a:cubicBezTo>
                    <a:pt x="0" y="52928"/>
                    <a:pt x="52928" y="0"/>
                    <a:pt x="1182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10037" cy="133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475314">
            <a:off x="1123609" y="871519"/>
            <a:ext cx="829061" cy="599939"/>
          </a:xfrm>
          <a:custGeom>
            <a:avLst/>
            <a:gdLst/>
            <a:ahLst/>
            <a:cxnLst/>
            <a:rect r="r" b="b" t="t" l="l"/>
            <a:pathLst>
              <a:path h="599939" w="829061">
                <a:moveTo>
                  <a:pt x="0" y="0"/>
                </a:moveTo>
                <a:lnTo>
                  <a:pt x="829061" y="0"/>
                </a:lnTo>
                <a:lnTo>
                  <a:pt x="829061" y="599939"/>
                </a:lnTo>
                <a:lnTo>
                  <a:pt x="0" y="5999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15866" y="2769542"/>
            <a:ext cx="12560640" cy="121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</a:pPr>
            <a:r>
              <a:rPr lang="en-US" sz="4696" spc="-258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Always verify links before clicking.</a:t>
            </a:r>
          </a:p>
          <a:p>
            <a:pPr algn="ctr" marL="0" indent="0" lvl="0">
              <a:lnSpc>
                <a:spcPts val="469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221772" y="4244022"/>
            <a:ext cx="6548829" cy="47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</a:pPr>
            <a:r>
              <a:rPr lang="en-US" b="true" sz="3539" i="true" spc="-194" u="sng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Example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3137" y="729781"/>
            <a:ext cx="2694329" cy="113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</a:p>
          <a:p>
            <a:pPr algn="l">
              <a:lnSpc>
                <a:spcPts val="2993"/>
              </a:lnSpc>
            </a:pPr>
            <a:r>
              <a:rPr lang="en-US" sz="2993" spc="-164" b="true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🔗 SLIDE 8</a:t>
            </a:r>
          </a:p>
          <a:p>
            <a:pPr algn="l" marL="0" indent="0" lvl="0">
              <a:lnSpc>
                <a:spcPts val="299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470618" y="5046294"/>
            <a:ext cx="6051136" cy="87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7740" indent="-248870" lvl="1">
              <a:lnSpc>
                <a:spcPts val="2305"/>
              </a:lnSpc>
              <a:buFont typeface="Arial"/>
              <a:buChar char="•"/>
            </a:pPr>
            <a:r>
              <a:rPr lang="en-US" b="true" sz="2305" i="true" spc="-126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Legitimate :  </a:t>
            </a:r>
            <a:r>
              <a:rPr lang="en-US" b="true" sz="2305" i="true" spc="-126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https : //amazon.com</a:t>
            </a:r>
          </a:p>
          <a:p>
            <a:pPr algn="ctr" marL="497740" indent="-248870" lvl="1">
              <a:lnSpc>
                <a:spcPts val="2305"/>
              </a:lnSpc>
              <a:buFont typeface="Arial"/>
              <a:buChar char="•"/>
            </a:pPr>
            <a:r>
              <a:rPr lang="en-US" b="true" sz="2305" i="true" spc="-126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Suspicious :  </a:t>
            </a:r>
            <a:r>
              <a:rPr lang="en-US" b="true" sz="2305" i="true" spc="-126">
                <a:solidFill>
                  <a:srgbClr val="E9E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https : // </a:t>
            </a:r>
            <a:r>
              <a:rPr lang="en-US" b="true" sz="2305" i="true" spc="-126" u="sng">
                <a:solidFill>
                  <a:srgbClr val="E9E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amaz0n-login.net</a:t>
            </a:r>
          </a:p>
          <a:p>
            <a:pPr algn="ctr">
              <a:lnSpc>
                <a:spcPts val="230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470618" y="6516983"/>
            <a:ext cx="6051136" cy="87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7740" indent="-248870" lvl="1">
              <a:lnSpc>
                <a:spcPts val="2305"/>
              </a:lnSpc>
              <a:buFont typeface="Arial"/>
              <a:buChar char="•"/>
            </a:pPr>
            <a:r>
              <a:rPr lang="en-US" b="true" sz="2305" i="true" spc="-126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Legitimate :  </a:t>
            </a:r>
            <a:r>
              <a:rPr lang="en-US" b="true" sz="2305" i="true" spc="-126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https : // microsoft.com </a:t>
            </a:r>
          </a:p>
          <a:p>
            <a:pPr algn="ctr" marL="497740" indent="-248870" lvl="1">
              <a:lnSpc>
                <a:spcPts val="2305"/>
              </a:lnSpc>
              <a:buFont typeface="Arial"/>
              <a:buChar char="•"/>
            </a:pPr>
            <a:r>
              <a:rPr lang="en-US" b="true" sz="2305" i="true" spc="-126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Suspicious :  </a:t>
            </a:r>
            <a:r>
              <a:rPr lang="en-US" b="true" sz="2305" i="true" spc="-126">
                <a:solidFill>
                  <a:srgbClr val="E9E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https : //</a:t>
            </a:r>
            <a:r>
              <a:rPr lang="en-US" sz="2305" i="true" spc="-126">
                <a:solidFill>
                  <a:srgbClr val="E9E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305" i="true" spc="-126" u="sng">
                <a:solidFill>
                  <a:srgbClr val="E9E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rnicrosoft.com</a:t>
            </a:r>
          </a:p>
          <a:p>
            <a:pPr algn="ctr">
              <a:lnSpc>
                <a:spcPts val="230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978162" y="5802418"/>
            <a:ext cx="9036048" cy="44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</a:pPr>
            <a:r>
              <a:rPr lang="en-US" sz="3442" i="true" spc="-189">
                <a:solidFill>
                  <a:srgbClr val="FFC7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803731" y="217078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2517" y="-14081261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86191" y="4242829"/>
            <a:ext cx="9685144" cy="1810257"/>
            <a:chOff x="0" y="0"/>
            <a:chExt cx="3120560" cy="5832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0560" cy="583266"/>
            </a:xfrm>
            <a:custGeom>
              <a:avLst/>
              <a:gdLst/>
              <a:ahLst/>
              <a:cxnLst/>
              <a:rect r="r" b="b" t="t" l="l"/>
              <a:pathLst>
                <a:path h="583266" w="3120560">
                  <a:moveTo>
                    <a:pt x="42366" y="0"/>
                  </a:moveTo>
                  <a:lnTo>
                    <a:pt x="3078194" y="0"/>
                  </a:lnTo>
                  <a:cubicBezTo>
                    <a:pt x="3089430" y="0"/>
                    <a:pt x="3100206" y="4464"/>
                    <a:pt x="3108151" y="12409"/>
                  </a:cubicBezTo>
                  <a:cubicBezTo>
                    <a:pt x="3116096" y="20354"/>
                    <a:pt x="3120560" y="31130"/>
                    <a:pt x="3120560" y="42366"/>
                  </a:cubicBezTo>
                  <a:lnTo>
                    <a:pt x="3120560" y="540900"/>
                  </a:lnTo>
                  <a:cubicBezTo>
                    <a:pt x="3120560" y="552136"/>
                    <a:pt x="3116096" y="562912"/>
                    <a:pt x="3108151" y="570857"/>
                  </a:cubicBezTo>
                  <a:cubicBezTo>
                    <a:pt x="3100206" y="578803"/>
                    <a:pt x="3089430" y="583266"/>
                    <a:pt x="3078194" y="583266"/>
                  </a:cubicBezTo>
                  <a:lnTo>
                    <a:pt x="42366" y="583266"/>
                  </a:lnTo>
                  <a:cubicBezTo>
                    <a:pt x="18968" y="583266"/>
                    <a:pt x="0" y="564298"/>
                    <a:pt x="0" y="540900"/>
                  </a:cubicBezTo>
                  <a:lnTo>
                    <a:pt x="0" y="42366"/>
                  </a:lnTo>
                  <a:cubicBezTo>
                    <a:pt x="0" y="18968"/>
                    <a:pt x="18968" y="0"/>
                    <a:pt x="423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45000"/>
                  </a:srgbClr>
                </a:gs>
                <a:gs pos="100000">
                  <a:srgbClr val="2F0087">
                    <a:alpha val="45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45000"/>
                    </a:srgbClr>
                  </a:gs>
                  <a:gs pos="100000">
                    <a:srgbClr val="E2E2E2">
                      <a:alpha val="45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20560" cy="621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03773" y="4809317"/>
            <a:ext cx="15597987" cy="156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b="true" sz="4305" i="true" spc="-236">
                <a:solidFill>
                  <a:srgbClr val="E7F2FA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🔍 INTERACTIVE SECTION</a:t>
            </a:r>
          </a:p>
          <a:p>
            <a:pPr algn="ctr" marL="0" indent="0" lvl="0">
              <a:lnSpc>
                <a:spcPts val="75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0735736" y="-534128"/>
            <a:ext cx="14843439" cy="15160606"/>
          </a:xfrm>
          <a:custGeom>
            <a:avLst/>
            <a:gdLst/>
            <a:ahLst/>
            <a:cxnLst/>
            <a:rect r="r" b="b" t="t" l="l"/>
            <a:pathLst>
              <a:path h="15160606" w="14843439">
                <a:moveTo>
                  <a:pt x="14843439" y="0"/>
                </a:moveTo>
                <a:lnTo>
                  <a:pt x="0" y="0"/>
                </a:lnTo>
                <a:lnTo>
                  <a:pt x="0" y="15160607"/>
                </a:lnTo>
                <a:lnTo>
                  <a:pt x="14843439" y="15160607"/>
                </a:lnTo>
                <a:lnTo>
                  <a:pt x="14843439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1968">
            <a:off x="-3536408" y="-5333940"/>
            <a:ext cx="14329489" cy="11184628"/>
          </a:xfrm>
          <a:custGeom>
            <a:avLst/>
            <a:gdLst/>
            <a:ahLst/>
            <a:cxnLst/>
            <a:rect r="r" b="b" t="t" l="l"/>
            <a:pathLst>
              <a:path h="11184628" w="14329489">
                <a:moveTo>
                  <a:pt x="814629" y="0"/>
                </a:moveTo>
                <a:lnTo>
                  <a:pt x="14329489" y="1090716"/>
                </a:lnTo>
                <a:lnTo>
                  <a:pt x="13514860" y="11184628"/>
                </a:lnTo>
                <a:lnTo>
                  <a:pt x="0" y="10093911"/>
                </a:lnTo>
                <a:lnTo>
                  <a:pt x="814629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6046" t="-29479" r="-2089" b="-26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803731" y="217078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21861" y="-13898649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85264" y="2644764"/>
            <a:ext cx="7685076" cy="4178891"/>
            <a:chOff x="0" y="0"/>
            <a:chExt cx="2476136" cy="13464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76136" cy="1346442"/>
            </a:xfrm>
            <a:custGeom>
              <a:avLst/>
              <a:gdLst/>
              <a:ahLst/>
              <a:cxnLst/>
              <a:rect r="r" b="b" t="t" l="l"/>
              <a:pathLst>
                <a:path h="1346442" w="2476136">
                  <a:moveTo>
                    <a:pt x="28207" y="0"/>
                  </a:moveTo>
                  <a:lnTo>
                    <a:pt x="2447929" y="0"/>
                  </a:lnTo>
                  <a:cubicBezTo>
                    <a:pt x="2463508" y="0"/>
                    <a:pt x="2476136" y="12629"/>
                    <a:pt x="2476136" y="28207"/>
                  </a:cubicBezTo>
                  <a:lnTo>
                    <a:pt x="2476136" y="1318234"/>
                  </a:lnTo>
                  <a:cubicBezTo>
                    <a:pt x="2476136" y="1333813"/>
                    <a:pt x="2463508" y="1346442"/>
                    <a:pt x="2447929" y="1346442"/>
                  </a:cubicBezTo>
                  <a:lnTo>
                    <a:pt x="28207" y="1346442"/>
                  </a:lnTo>
                  <a:cubicBezTo>
                    <a:pt x="12629" y="1346442"/>
                    <a:pt x="0" y="1333813"/>
                    <a:pt x="0" y="1318234"/>
                  </a:cubicBezTo>
                  <a:lnTo>
                    <a:pt x="0" y="28207"/>
                  </a:lnTo>
                  <a:cubicBezTo>
                    <a:pt x="0" y="12629"/>
                    <a:pt x="12629" y="0"/>
                    <a:pt x="282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76136" cy="1384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475314">
            <a:off x="1056185" y="729236"/>
            <a:ext cx="947992" cy="686002"/>
          </a:xfrm>
          <a:custGeom>
            <a:avLst/>
            <a:gdLst/>
            <a:ahLst/>
            <a:cxnLst/>
            <a:rect r="r" b="b" t="t" l="l"/>
            <a:pathLst>
              <a:path h="686002" w="947992">
                <a:moveTo>
                  <a:pt x="0" y="0"/>
                </a:moveTo>
                <a:lnTo>
                  <a:pt x="947992" y="0"/>
                </a:lnTo>
                <a:lnTo>
                  <a:pt x="947992" y="686001"/>
                </a:lnTo>
                <a:lnTo>
                  <a:pt x="0" y="686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36253" y="372674"/>
            <a:ext cx="9815493" cy="219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4"/>
              </a:lnSpc>
            </a:pPr>
            <a:r>
              <a:rPr lang="en-US" b="true" sz="5694" i="true" spc="-313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SCENARIO-BASED EXAMPLE</a:t>
            </a:r>
          </a:p>
          <a:p>
            <a:pPr algn="ctr" marL="0" indent="0" lvl="0">
              <a:lnSpc>
                <a:spcPts val="569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36253" y="2939042"/>
            <a:ext cx="9597585" cy="62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b="true" sz="2474" i="true" spc="-136" u="sng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Subject: Urgent – Salary Account Issue   </a:t>
            </a:r>
          </a:p>
          <a:p>
            <a:pPr algn="ctr" marL="0" indent="0" lvl="0">
              <a:lnSpc>
                <a:spcPts val="247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709906" y="3487672"/>
            <a:ext cx="7177823" cy="273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b="true" sz="2367" i="true" spc="35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Dear Employee,</a:t>
            </a:r>
          </a:p>
          <a:p>
            <a:pPr algn="l">
              <a:lnSpc>
                <a:spcPts val="3947"/>
              </a:lnSpc>
            </a:pPr>
            <a:r>
              <a:rPr lang="en-US" b="true" sz="2667" i="true" spc="-146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We have detected an issue with your salary account .Please verify immediately:http://company-payroll-secure.net</a:t>
            </a:r>
          </a:p>
          <a:p>
            <a:pPr algn="r" marL="0" indent="0" lvl="0">
              <a:lnSpc>
                <a:spcPts val="206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22606" y="1117838"/>
            <a:ext cx="2797709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🎭 SLIDE : 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803731" y="217078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6630" y="-14581774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89788" y="2862044"/>
            <a:ext cx="7870726" cy="3714983"/>
            <a:chOff x="0" y="0"/>
            <a:chExt cx="2535953" cy="1196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35953" cy="1196970"/>
            </a:xfrm>
            <a:custGeom>
              <a:avLst/>
              <a:gdLst/>
              <a:ahLst/>
              <a:cxnLst/>
              <a:rect r="r" b="b" t="t" l="l"/>
              <a:pathLst>
                <a:path h="1196970" w="2535953">
                  <a:moveTo>
                    <a:pt x="52133" y="0"/>
                  </a:moveTo>
                  <a:lnTo>
                    <a:pt x="2483820" y="0"/>
                  </a:lnTo>
                  <a:cubicBezTo>
                    <a:pt x="2497647" y="0"/>
                    <a:pt x="2510907" y="5493"/>
                    <a:pt x="2520684" y="15269"/>
                  </a:cubicBezTo>
                  <a:cubicBezTo>
                    <a:pt x="2530461" y="25046"/>
                    <a:pt x="2535953" y="38306"/>
                    <a:pt x="2535953" y="52133"/>
                  </a:cubicBezTo>
                  <a:lnTo>
                    <a:pt x="2535953" y="1144837"/>
                  </a:lnTo>
                  <a:cubicBezTo>
                    <a:pt x="2535953" y="1173629"/>
                    <a:pt x="2512613" y="1196970"/>
                    <a:pt x="2483820" y="1196970"/>
                  </a:cubicBezTo>
                  <a:lnTo>
                    <a:pt x="52133" y="1196970"/>
                  </a:lnTo>
                  <a:cubicBezTo>
                    <a:pt x="38306" y="1196970"/>
                    <a:pt x="25046" y="1191477"/>
                    <a:pt x="15269" y="1181701"/>
                  </a:cubicBezTo>
                  <a:cubicBezTo>
                    <a:pt x="5493" y="1171924"/>
                    <a:pt x="0" y="1158664"/>
                    <a:pt x="0" y="1144837"/>
                  </a:cubicBezTo>
                  <a:lnTo>
                    <a:pt x="0" y="52133"/>
                  </a:lnTo>
                  <a:cubicBezTo>
                    <a:pt x="0" y="38306"/>
                    <a:pt x="5493" y="25046"/>
                    <a:pt x="15269" y="15269"/>
                  </a:cubicBezTo>
                  <a:cubicBezTo>
                    <a:pt x="25046" y="5493"/>
                    <a:pt x="38306" y="0"/>
                    <a:pt x="52133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35953" cy="1235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926872">
            <a:off x="640162" y="510664"/>
            <a:ext cx="777075" cy="562320"/>
          </a:xfrm>
          <a:custGeom>
            <a:avLst/>
            <a:gdLst/>
            <a:ahLst/>
            <a:cxnLst/>
            <a:rect r="r" b="b" t="t" l="l"/>
            <a:pathLst>
              <a:path h="562320" w="777075">
                <a:moveTo>
                  <a:pt x="0" y="0"/>
                </a:moveTo>
                <a:lnTo>
                  <a:pt x="777076" y="0"/>
                </a:lnTo>
                <a:lnTo>
                  <a:pt x="777076" y="562320"/>
                </a:lnTo>
                <a:lnTo>
                  <a:pt x="0" y="5623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70398" y="1393173"/>
            <a:ext cx="11164867" cy="111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3"/>
              </a:lnSpc>
            </a:pPr>
            <a:r>
              <a:rPr lang="en-US" b="true" sz="6433" i="true" spc="-353" u="sng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CORRECT  RESPONSE</a:t>
            </a:r>
          </a:p>
          <a:p>
            <a:pPr algn="ctr" marL="0" indent="0" lvl="0">
              <a:lnSpc>
                <a:spcPts val="247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331726" y="3508882"/>
            <a:ext cx="6747926" cy="207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114" indent="-314557" lvl="1">
              <a:lnSpc>
                <a:spcPts val="4108"/>
              </a:lnSpc>
              <a:buFont typeface="Arial"/>
              <a:buChar char="•"/>
            </a:pPr>
            <a:r>
              <a:rPr lang="en-US" sz="2913" spc="-160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Do not click the link</a:t>
            </a:r>
          </a:p>
          <a:p>
            <a:pPr algn="l" marL="585935" indent="-292968" lvl="1">
              <a:lnSpc>
                <a:spcPts val="6784"/>
              </a:lnSpc>
              <a:buFont typeface="Arial"/>
              <a:buChar char="•"/>
            </a:pPr>
            <a:r>
              <a:rPr lang="en-US" sz="2713" spc="-149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Report the email to IT/security team</a:t>
            </a:r>
          </a:p>
          <a:p>
            <a:pPr algn="l" marL="564346" indent="-282173" lvl="1">
              <a:lnSpc>
                <a:spcPts val="2613"/>
              </a:lnSpc>
              <a:buFont typeface="Arial"/>
              <a:buChar char="•"/>
            </a:pPr>
            <a:r>
              <a:rPr lang="en-US" sz="2613" spc="-143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Access the official website directly</a:t>
            </a:r>
          </a:p>
          <a:p>
            <a:pPr algn="ctr" marL="0" indent="0" lvl="0">
              <a:lnSpc>
                <a:spcPts val="261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56861" y="858499"/>
            <a:ext cx="2969155" cy="41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8"/>
              </a:lnSpc>
            </a:pPr>
            <a:r>
              <a:rPr lang="en-US" b="true" sz="3198" spc="-175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 SLIDE : 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978000" y="1494439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64235" y="-6531249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4740" cy="1798419"/>
            </a:xfrm>
            <a:custGeom>
              <a:avLst/>
              <a:gdLst/>
              <a:ahLst/>
              <a:cxnLst/>
              <a:rect r="r" b="b" t="t" l="l"/>
              <a:pathLst>
                <a:path h="1798419" w="2934740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62438" y="4231319"/>
            <a:ext cx="7421123" cy="3813066"/>
            <a:chOff x="0" y="0"/>
            <a:chExt cx="2391091" cy="12285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91091" cy="1228572"/>
            </a:xfrm>
            <a:custGeom>
              <a:avLst/>
              <a:gdLst/>
              <a:ahLst/>
              <a:cxnLst/>
              <a:rect r="r" b="b" t="t" l="l"/>
              <a:pathLst>
                <a:path h="1228572" w="2391091">
                  <a:moveTo>
                    <a:pt x="104323" y="0"/>
                  </a:moveTo>
                  <a:lnTo>
                    <a:pt x="2286768" y="0"/>
                  </a:lnTo>
                  <a:cubicBezTo>
                    <a:pt x="2344384" y="0"/>
                    <a:pt x="2391091" y="46707"/>
                    <a:pt x="2391091" y="104323"/>
                  </a:cubicBezTo>
                  <a:lnTo>
                    <a:pt x="2391091" y="1124249"/>
                  </a:lnTo>
                  <a:cubicBezTo>
                    <a:pt x="2391091" y="1181865"/>
                    <a:pt x="2344384" y="1228572"/>
                    <a:pt x="2286768" y="1228572"/>
                  </a:cubicBezTo>
                  <a:lnTo>
                    <a:pt x="104323" y="1228572"/>
                  </a:lnTo>
                  <a:cubicBezTo>
                    <a:pt x="46707" y="1228572"/>
                    <a:pt x="0" y="1181865"/>
                    <a:pt x="0" y="1124249"/>
                  </a:cubicBezTo>
                  <a:lnTo>
                    <a:pt x="0" y="104323"/>
                  </a:lnTo>
                  <a:cubicBezTo>
                    <a:pt x="0" y="46707"/>
                    <a:pt x="46707" y="0"/>
                    <a:pt x="1043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91091" cy="1266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475314">
            <a:off x="1011785" y="671621"/>
            <a:ext cx="960709" cy="695204"/>
          </a:xfrm>
          <a:custGeom>
            <a:avLst/>
            <a:gdLst/>
            <a:ahLst/>
            <a:cxnLst/>
            <a:rect r="r" b="b" t="t" l="l"/>
            <a:pathLst>
              <a:path h="695204" w="960709">
                <a:moveTo>
                  <a:pt x="0" y="0"/>
                </a:moveTo>
                <a:lnTo>
                  <a:pt x="960709" y="0"/>
                </a:lnTo>
                <a:lnTo>
                  <a:pt x="960709" y="695204"/>
                </a:lnTo>
                <a:lnTo>
                  <a:pt x="0" y="6952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31501" y="3399529"/>
            <a:ext cx="8424998" cy="120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b="true" sz="5147" i="true" spc="-283" u="sng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IDENTIFY THE RED FLAGS</a:t>
            </a:r>
          </a:p>
          <a:p>
            <a:pPr algn="ctr" marL="0" indent="0" lvl="0">
              <a:lnSpc>
                <a:spcPts val="425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474010" y="4739743"/>
            <a:ext cx="7098783" cy="252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8"/>
              </a:lnSpc>
            </a:pPr>
            <a:r>
              <a:rPr lang="en-US" b="true" sz="2528" i="true" spc="-139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EMAIL:</a:t>
            </a:r>
            <a:r>
              <a:rPr lang="en-US" b="true" sz="2528" i="true" spc="-139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SUPPORT@PAYPAI.COM</a:t>
            </a:r>
          </a:p>
          <a:p>
            <a:pPr algn="l">
              <a:lnSpc>
                <a:spcPts val="2528"/>
              </a:lnSpc>
            </a:pPr>
          </a:p>
          <a:p>
            <a:pPr algn="l">
              <a:lnSpc>
                <a:spcPts val="2528"/>
              </a:lnSpc>
            </a:pPr>
            <a:r>
              <a:rPr lang="en-US" b="true" sz="2528" i="true" spc="-139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LINK: HTTP://PAYPAL-VERIFICATION-LOGIN.XYZ</a:t>
            </a:r>
          </a:p>
          <a:p>
            <a:pPr algn="l">
              <a:lnSpc>
                <a:spcPts val="2528"/>
              </a:lnSpc>
            </a:pPr>
          </a:p>
          <a:p>
            <a:pPr algn="ctr">
              <a:lnSpc>
                <a:spcPts val="2528"/>
              </a:lnSpc>
            </a:pPr>
          </a:p>
          <a:p>
            <a:pPr algn="l">
              <a:lnSpc>
                <a:spcPts val="2528"/>
              </a:lnSpc>
            </a:pPr>
            <a:r>
              <a:rPr lang="en-US" b="true" sz="2528" i="true" spc="-139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QUESTION: WHAT MAKES THIS SUSPICIOUS?</a:t>
            </a:r>
          </a:p>
          <a:p>
            <a:pPr algn="ctr" marL="0" indent="0" lvl="0">
              <a:lnSpc>
                <a:spcPts val="252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12561" y="1076373"/>
            <a:ext cx="3152053" cy="41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3"/>
              </a:lnSpc>
            </a:pPr>
            <a:r>
              <a:rPr lang="en-US" b="true" sz="3183" spc="-175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🔍 SLIDE : 11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803731" y="217078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172728" y="-12681533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89788" y="2537470"/>
            <a:ext cx="9108424" cy="5906249"/>
            <a:chOff x="0" y="0"/>
            <a:chExt cx="2934740" cy="1902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4740" cy="1902997"/>
            </a:xfrm>
            <a:custGeom>
              <a:avLst/>
              <a:gdLst/>
              <a:ahLst/>
              <a:cxnLst/>
              <a:rect r="r" b="b" t="t" l="l"/>
              <a:pathLst>
                <a:path h="1902997" w="2934740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857949"/>
                  </a:lnTo>
                  <a:cubicBezTo>
                    <a:pt x="2934740" y="1882828"/>
                    <a:pt x="2914571" y="1902997"/>
                    <a:pt x="2889692" y="1902997"/>
                  </a:cubicBezTo>
                  <a:lnTo>
                    <a:pt x="45049" y="1902997"/>
                  </a:lnTo>
                  <a:cubicBezTo>
                    <a:pt x="20169" y="1902997"/>
                    <a:pt x="0" y="1882828"/>
                    <a:pt x="0" y="1857949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34740" cy="1941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592061" y="4373321"/>
            <a:ext cx="6548829" cy="3468205"/>
            <a:chOff x="0" y="0"/>
            <a:chExt cx="2110037" cy="1117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0037" cy="1117458"/>
            </a:xfrm>
            <a:custGeom>
              <a:avLst/>
              <a:gdLst/>
              <a:ahLst/>
              <a:cxnLst/>
              <a:rect r="r" b="b" t="t" l="l"/>
              <a:pathLst>
                <a:path h="1117458" w="2110037">
                  <a:moveTo>
                    <a:pt x="118218" y="0"/>
                  </a:moveTo>
                  <a:lnTo>
                    <a:pt x="1991819" y="0"/>
                  </a:lnTo>
                  <a:cubicBezTo>
                    <a:pt x="2057109" y="0"/>
                    <a:pt x="2110037" y="52928"/>
                    <a:pt x="2110037" y="118218"/>
                  </a:cubicBezTo>
                  <a:lnTo>
                    <a:pt x="2110037" y="999240"/>
                  </a:lnTo>
                  <a:cubicBezTo>
                    <a:pt x="2110037" y="1030593"/>
                    <a:pt x="2097582" y="1060662"/>
                    <a:pt x="2075411" y="1082833"/>
                  </a:cubicBezTo>
                  <a:cubicBezTo>
                    <a:pt x="2053241" y="1105003"/>
                    <a:pt x="2023172" y="1117458"/>
                    <a:pt x="1991819" y="1117458"/>
                  </a:cubicBezTo>
                  <a:lnTo>
                    <a:pt x="118218" y="1117458"/>
                  </a:lnTo>
                  <a:cubicBezTo>
                    <a:pt x="52928" y="1117458"/>
                    <a:pt x="0" y="1064530"/>
                    <a:pt x="0" y="999240"/>
                  </a:cubicBezTo>
                  <a:lnTo>
                    <a:pt x="0" y="118218"/>
                  </a:lnTo>
                  <a:cubicBezTo>
                    <a:pt x="0" y="52928"/>
                    <a:pt x="52928" y="0"/>
                    <a:pt x="1182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10037" cy="1155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475314">
            <a:off x="1004252" y="710812"/>
            <a:ext cx="873843" cy="632345"/>
          </a:xfrm>
          <a:custGeom>
            <a:avLst/>
            <a:gdLst/>
            <a:ahLst/>
            <a:cxnLst/>
            <a:rect r="r" b="b" t="t" l="l"/>
            <a:pathLst>
              <a:path h="632345" w="873843">
                <a:moveTo>
                  <a:pt x="0" y="0"/>
                </a:moveTo>
                <a:lnTo>
                  <a:pt x="873843" y="0"/>
                </a:lnTo>
                <a:lnTo>
                  <a:pt x="873843" y="632345"/>
                </a:lnTo>
                <a:lnTo>
                  <a:pt x="0" y="632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120194" y="2950767"/>
            <a:ext cx="7553801" cy="94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77"/>
              </a:lnSpc>
            </a:pPr>
            <a:r>
              <a:rPr lang="en-US" b="true" sz="7077" i="true" spc="-389" u="sng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EXPLANATION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53299" y="4744155"/>
            <a:ext cx="6487591" cy="28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320" indent="-304160" lvl="1">
              <a:lnSpc>
                <a:spcPts val="5888"/>
              </a:lnSpc>
              <a:buFont typeface="Arial"/>
              <a:buChar char="•"/>
            </a:pPr>
            <a:r>
              <a:rPr lang="en-US" b="true" sz="2817" i="true" spc="-253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Domain spoofing (paypaI vs paypal)</a:t>
            </a:r>
          </a:p>
          <a:p>
            <a:pPr algn="l" marL="608320" indent="-304160" lvl="1">
              <a:lnSpc>
                <a:spcPts val="5888"/>
              </a:lnSpc>
              <a:buFont typeface="Arial"/>
              <a:buChar char="•"/>
            </a:pPr>
            <a:r>
              <a:rPr lang="en-US" b="true" sz="2817" i="true" spc="-253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Fake website URL</a:t>
            </a:r>
          </a:p>
          <a:p>
            <a:pPr algn="just" marL="608320" indent="-304160" lvl="1">
              <a:lnSpc>
                <a:spcPts val="5888"/>
              </a:lnSpc>
              <a:buFont typeface="Arial"/>
              <a:buChar char="•"/>
            </a:pPr>
            <a:r>
              <a:rPr lang="en-US" b="true" sz="2817" i="true" spc="-253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Use of urgency to pressure action</a:t>
            </a:r>
          </a:p>
          <a:p>
            <a:pPr algn="ctr" marL="0" indent="0" lvl="0">
              <a:lnSpc>
                <a:spcPts val="588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20633" y="1085850"/>
            <a:ext cx="2969155" cy="41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8"/>
              </a:lnSpc>
            </a:pPr>
            <a:r>
              <a:rPr lang="en-US" b="true" sz="3098" spc="-170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 SLIDE 12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803731" y="217078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20532" y="-1422326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628336" y="2699757"/>
            <a:ext cx="10629867" cy="5544208"/>
            <a:chOff x="0" y="0"/>
            <a:chExt cx="3424950" cy="1786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4950" cy="1786347"/>
            </a:xfrm>
            <a:custGeom>
              <a:avLst/>
              <a:gdLst/>
              <a:ahLst/>
              <a:cxnLst/>
              <a:rect r="r" b="b" t="t" l="l"/>
              <a:pathLst>
                <a:path h="1786347" w="3424950">
                  <a:moveTo>
                    <a:pt x="38601" y="0"/>
                  </a:moveTo>
                  <a:lnTo>
                    <a:pt x="3386350" y="0"/>
                  </a:lnTo>
                  <a:cubicBezTo>
                    <a:pt x="3396587" y="0"/>
                    <a:pt x="3406405" y="4067"/>
                    <a:pt x="3413644" y="11306"/>
                  </a:cubicBezTo>
                  <a:cubicBezTo>
                    <a:pt x="3420883" y="18545"/>
                    <a:pt x="3424950" y="28363"/>
                    <a:pt x="3424950" y="38601"/>
                  </a:cubicBezTo>
                  <a:lnTo>
                    <a:pt x="3424950" y="1747747"/>
                  </a:lnTo>
                  <a:cubicBezTo>
                    <a:pt x="3424950" y="1769065"/>
                    <a:pt x="3407668" y="1786347"/>
                    <a:pt x="3386350" y="1786347"/>
                  </a:cubicBezTo>
                  <a:lnTo>
                    <a:pt x="38601" y="1786347"/>
                  </a:lnTo>
                  <a:cubicBezTo>
                    <a:pt x="17282" y="1786347"/>
                    <a:pt x="0" y="1769065"/>
                    <a:pt x="0" y="1747747"/>
                  </a:cubicBezTo>
                  <a:lnTo>
                    <a:pt x="0" y="38601"/>
                  </a:lnTo>
                  <a:cubicBezTo>
                    <a:pt x="0" y="17282"/>
                    <a:pt x="17282" y="0"/>
                    <a:pt x="38601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24950" cy="1824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20817" y="4231319"/>
            <a:ext cx="8877395" cy="3441535"/>
            <a:chOff x="0" y="0"/>
            <a:chExt cx="2860303" cy="1108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60303" cy="1108865"/>
            </a:xfrm>
            <a:custGeom>
              <a:avLst/>
              <a:gdLst/>
              <a:ahLst/>
              <a:cxnLst/>
              <a:rect r="r" b="b" t="t" l="l"/>
              <a:pathLst>
                <a:path h="1108865" w="2860303">
                  <a:moveTo>
                    <a:pt x="87209" y="0"/>
                  </a:moveTo>
                  <a:lnTo>
                    <a:pt x="2773093" y="0"/>
                  </a:lnTo>
                  <a:cubicBezTo>
                    <a:pt x="2796223" y="0"/>
                    <a:pt x="2818405" y="9188"/>
                    <a:pt x="2834760" y="25543"/>
                  </a:cubicBezTo>
                  <a:cubicBezTo>
                    <a:pt x="2851114" y="41898"/>
                    <a:pt x="2860303" y="64080"/>
                    <a:pt x="2860303" y="87209"/>
                  </a:cubicBezTo>
                  <a:lnTo>
                    <a:pt x="2860303" y="1021655"/>
                  </a:lnTo>
                  <a:cubicBezTo>
                    <a:pt x="2860303" y="1044785"/>
                    <a:pt x="2851114" y="1066967"/>
                    <a:pt x="2834760" y="1083322"/>
                  </a:cubicBezTo>
                  <a:cubicBezTo>
                    <a:pt x="2818405" y="1099677"/>
                    <a:pt x="2796223" y="1108865"/>
                    <a:pt x="2773093" y="1108865"/>
                  </a:cubicBezTo>
                  <a:lnTo>
                    <a:pt x="87209" y="1108865"/>
                  </a:lnTo>
                  <a:cubicBezTo>
                    <a:pt x="64080" y="1108865"/>
                    <a:pt x="41898" y="1099677"/>
                    <a:pt x="25543" y="1083322"/>
                  </a:cubicBezTo>
                  <a:cubicBezTo>
                    <a:pt x="9188" y="1066967"/>
                    <a:pt x="0" y="1044785"/>
                    <a:pt x="0" y="1021655"/>
                  </a:cubicBezTo>
                  <a:lnTo>
                    <a:pt x="0" y="87209"/>
                  </a:lnTo>
                  <a:cubicBezTo>
                    <a:pt x="0" y="64080"/>
                    <a:pt x="9188" y="41898"/>
                    <a:pt x="25543" y="25543"/>
                  </a:cubicBezTo>
                  <a:cubicBezTo>
                    <a:pt x="41898" y="9188"/>
                    <a:pt x="64080" y="0"/>
                    <a:pt x="87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60303" cy="1146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475314">
            <a:off x="1005266" y="713507"/>
            <a:ext cx="871047" cy="630321"/>
          </a:xfrm>
          <a:custGeom>
            <a:avLst/>
            <a:gdLst/>
            <a:ahLst/>
            <a:cxnLst/>
            <a:rect r="r" b="b" t="t" l="l"/>
            <a:pathLst>
              <a:path h="630321" w="871047">
                <a:moveTo>
                  <a:pt x="0" y="0"/>
                </a:moveTo>
                <a:lnTo>
                  <a:pt x="871047" y="0"/>
                </a:lnTo>
                <a:lnTo>
                  <a:pt x="871047" y="630321"/>
                </a:lnTo>
                <a:lnTo>
                  <a:pt x="0" y="6303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61159" y="3268738"/>
            <a:ext cx="8637053" cy="135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8"/>
              </a:lnSpc>
            </a:pPr>
            <a:r>
              <a:rPr lang="en-US" b="true" sz="5298" i="true" spc="-291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REAL-WORLD INCIDENT</a:t>
            </a:r>
          </a:p>
          <a:p>
            <a:pPr algn="ctr" marL="0" indent="0" lvl="0">
              <a:lnSpc>
                <a:spcPts val="529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469200" y="4539291"/>
            <a:ext cx="8229013" cy="289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3"/>
              </a:lnSpc>
            </a:pPr>
            <a:r>
              <a:rPr lang="en-US" b="true" sz="3243" i="true" spc="-178">
                <a:solidFill>
                  <a:srgbClr val="E7F2FA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 Google Docs Phishing Attack</a:t>
            </a:r>
          </a:p>
          <a:p>
            <a:pPr algn="l">
              <a:lnSpc>
                <a:spcPts val="2194"/>
              </a:lnSpc>
            </a:pPr>
          </a:p>
          <a:p>
            <a:pPr algn="l" marL="560113" indent="-280057" lvl="1">
              <a:lnSpc>
                <a:spcPts val="2594"/>
              </a:lnSpc>
              <a:buFont typeface="Arial"/>
              <a:buChar char="•"/>
            </a:pPr>
            <a:r>
              <a:rPr lang="en-US" sz="2594" i="true" spc="-142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Users received a fake Google Docs invitation</a:t>
            </a:r>
          </a:p>
          <a:p>
            <a:pPr algn="l" marL="560113" indent="-280057" lvl="1">
              <a:lnSpc>
                <a:spcPts val="2594"/>
              </a:lnSpc>
              <a:buFont typeface="Arial"/>
              <a:buChar char="•"/>
            </a:pPr>
            <a:r>
              <a:rPr lang="en-US" sz="2594" i="true" spc="-142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The email appeared legitimate</a:t>
            </a:r>
          </a:p>
          <a:p>
            <a:pPr algn="l" marL="560113" indent="-280057" lvl="1">
              <a:lnSpc>
                <a:spcPts val="2594"/>
              </a:lnSpc>
              <a:buFont typeface="Arial"/>
              <a:buChar char="•"/>
            </a:pPr>
            <a:r>
              <a:rPr lang="en-US" sz="2594" i="true" spc="-142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Users unknowingly granted malicious permissions</a:t>
            </a:r>
          </a:p>
          <a:p>
            <a:pPr algn="l">
              <a:lnSpc>
                <a:spcPts val="2194"/>
              </a:lnSpc>
            </a:pPr>
          </a:p>
          <a:p>
            <a:pPr algn="l">
              <a:lnSpc>
                <a:spcPts val="2594"/>
              </a:lnSpc>
            </a:pPr>
            <a:r>
              <a:rPr lang="en-US" sz="2594" spc="-142">
                <a:solidFill>
                  <a:srgbClr val="E7F2FA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2594" spc="-142" b="true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Key Takeaway:</a:t>
            </a:r>
          </a:p>
          <a:p>
            <a:pPr algn="l">
              <a:lnSpc>
                <a:spcPts val="2494"/>
              </a:lnSpc>
            </a:pPr>
            <a:r>
              <a:rPr lang="en-US" sz="2494" i="true" spc="-137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  </a:t>
            </a:r>
            <a:r>
              <a:rPr lang="en-US" sz="2494" i="true" spc="-137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Even trusted platforms can be exploited</a:t>
            </a:r>
          </a:p>
          <a:p>
            <a:pPr algn="ctr" marL="0" indent="0" lvl="0">
              <a:lnSpc>
                <a:spcPts val="249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20633" y="1001713"/>
            <a:ext cx="2969155" cy="41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8"/>
              </a:lnSpc>
            </a:pPr>
            <a:r>
              <a:rPr lang="en-US" b="true" sz="3098" spc="-170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🧪 SLIDE : 13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475481" y="3043076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22506" y="-16312710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4740" cy="1798419"/>
            </a:xfrm>
            <a:custGeom>
              <a:avLst/>
              <a:gdLst/>
              <a:ahLst/>
              <a:cxnLst/>
              <a:rect r="r" b="b" t="t" l="l"/>
              <a:pathLst>
                <a:path h="1798419" w="2934740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65494" y="3997097"/>
            <a:ext cx="7580735" cy="4058453"/>
            <a:chOff x="0" y="0"/>
            <a:chExt cx="2442518" cy="13076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2518" cy="1307636"/>
            </a:xfrm>
            <a:custGeom>
              <a:avLst/>
              <a:gdLst/>
              <a:ahLst/>
              <a:cxnLst/>
              <a:rect r="r" b="b" t="t" l="l"/>
              <a:pathLst>
                <a:path h="1307636" w="2442518">
                  <a:moveTo>
                    <a:pt x="102126" y="0"/>
                  </a:moveTo>
                  <a:lnTo>
                    <a:pt x="2340391" y="0"/>
                  </a:lnTo>
                  <a:cubicBezTo>
                    <a:pt x="2367477" y="0"/>
                    <a:pt x="2393453" y="10760"/>
                    <a:pt x="2412605" y="29912"/>
                  </a:cubicBezTo>
                  <a:cubicBezTo>
                    <a:pt x="2431758" y="49064"/>
                    <a:pt x="2442518" y="75041"/>
                    <a:pt x="2442518" y="102126"/>
                  </a:cubicBezTo>
                  <a:lnTo>
                    <a:pt x="2442518" y="1205510"/>
                  </a:lnTo>
                  <a:cubicBezTo>
                    <a:pt x="2442518" y="1232596"/>
                    <a:pt x="2431758" y="1258572"/>
                    <a:pt x="2412605" y="1277724"/>
                  </a:cubicBezTo>
                  <a:cubicBezTo>
                    <a:pt x="2393453" y="1296876"/>
                    <a:pt x="2367477" y="1307636"/>
                    <a:pt x="2340391" y="1307636"/>
                  </a:cubicBezTo>
                  <a:lnTo>
                    <a:pt x="102126" y="1307636"/>
                  </a:lnTo>
                  <a:cubicBezTo>
                    <a:pt x="45723" y="1307636"/>
                    <a:pt x="0" y="1261913"/>
                    <a:pt x="0" y="1205510"/>
                  </a:cubicBezTo>
                  <a:lnTo>
                    <a:pt x="0" y="102126"/>
                  </a:lnTo>
                  <a:cubicBezTo>
                    <a:pt x="0" y="75041"/>
                    <a:pt x="10760" y="49064"/>
                    <a:pt x="29912" y="29912"/>
                  </a:cubicBezTo>
                  <a:cubicBezTo>
                    <a:pt x="49064" y="10760"/>
                    <a:pt x="75041" y="0"/>
                    <a:pt x="1021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42518" cy="1345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475314">
            <a:off x="1001600" y="703767"/>
            <a:ext cx="881155" cy="637636"/>
          </a:xfrm>
          <a:custGeom>
            <a:avLst/>
            <a:gdLst/>
            <a:ahLst/>
            <a:cxnLst/>
            <a:rect r="r" b="b" t="t" l="l"/>
            <a:pathLst>
              <a:path h="637636" w="881155">
                <a:moveTo>
                  <a:pt x="0" y="0"/>
                </a:moveTo>
                <a:lnTo>
                  <a:pt x="881155" y="0"/>
                </a:lnTo>
                <a:lnTo>
                  <a:pt x="881155" y="637636"/>
                </a:lnTo>
                <a:lnTo>
                  <a:pt x="0" y="6376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65494" y="3284112"/>
            <a:ext cx="8357012" cy="93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5"/>
              </a:lnSpc>
            </a:pPr>
            <a:r>
              <a:rPr lang="en-US" b="true" sz="3615" i="true" spc="-198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BUSINESS EMAIL COMPROMISE (BEC)</a:t>
            </a:r>
          </a:p>
          <a:p>
            <a:pPr algn="ctr" marL="0" indent="0" lvl="0">
              <a:lnSpc>
                <a:spcPts val="361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269783" y="4367608"/>
            <a:ext cx="7458157" cy="322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b="true" sz="2376" spc="484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</a:t>
            </a:r>
            <a:r>
              <a:rPr lang="en-US" b="true" sz="2376" spc="484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: </a:t>
            </a:r>
            <a:r>
              <a:rPr lang="en-US" sz="2376" i="true" spc="484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Message from “CEO” requesting urgent fund transfer</a:t>
            </a:r>
          </a:p>
          <a:p>
            <a:pPr algn="l">
              <a:lnSpc>
                <a:spcPts val="3801"/>
              </a:lnSpc>
            </a:pPr>
            <a:r>
              <a:rPr lang="en-US" sz="2376" spc="484" b="true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</a:t>
            </a:r>
            <a:r>
              <a:rPr lang="en-US" sz="2376" spc="484" b="true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: </a:t>
            </a:r>
            <a:r>
              <a:rPr lang="en-US" sz="2376" i="true" spc="484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Financial loss and data compromise</a:t>
            </a:r>
          </a:p>
          <a:p>
            <a:pPr algn="l">
              <a:lnSpc>
                <a:spcPts val="3801"/>
              </a:lnSpc>
            </a:pPr>
            <a:r>
              <a:rPr lang="en-US" b="true" sz="2376" spc="484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Lesson: </a:t>
            </a:r>
            <a:r>
              <a:rPr lang="en-US" sz="2376" i="true" spc="484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Always verify unusual requests through official channels</a:t>
            </a:r>
          </a:p>
          <a:p>
            <a:pPr algn="just" marL="0" indent="0" lvl="0">
              <a:lnSpc>
                <a:spcPts val="237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62634" y="968677"/>
            <a:ext cx="2969155" cy="75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998" spc="-164" b="true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💼 SLIDE : 14 </a:t>
            </a:r>
          </a:p>
          <a:p>
            <a:pPr algn="l" marL="0" indent="0" lvl="0">
              <a:lnSpc>
                <a:spcPts val="2998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803731" y="217078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43677" y="-14081261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117221" y="3975535"/>
            <a:ext cx="9108424" cy="2335929"/>
            <a:chOff x="0" y="0"/>
            <a:chExt cx="2934740" cy="7526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4740" cy="752638"/>
            </a:xfrm>
            <a:custGeom>
              <a:avLst/>
              <a:gdLst/>
              <a:ahLst/>
              <a:cxnLst/>
              <a:rect r="r" b="b" t="t" l="l"/>
              <a:pathLst>
                <a:path h="752638" w="2934740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707589"/>
                  </a:lnTo>
                  <a:cubicBezTo>
                    <a:pt x="2934740" y="732469"/>
                    <a:pt x="2914571" y="752638"/>
                    <a:pt x="2889692" y="752638"/>
                  </a:cubicBezTo>
                  <a:lnTo>
                    <a:pt x="45049" y="752638"/>
                  </a:lnTo>
                  <a:cubicBezTo>
                    <a:pt x="20169" y="752638"/>
                    <a:pt x="0" y="732469"/>
                    <a:pt x="0" y="707589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45000"/>
                  </a:srgbClr>
                </a:gs>
                <a:gs pos="100000">
                  <a:srgbClr val="2F0087">
                    <a:alpha val="45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45000"/>
                    </a:srgbClr>
                  </a:gs>
                  <a:gs pos="100000">
                    <a:srgbClr val="E2E2E2">
                      <a:alpha val="45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34740" cy="790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240150" y="4872361"/>
            <a:ext cx="10862567" cy="1156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6"/>
              </a:lnSpc>
            </a:pPr>
            <a:r>
              <a:rPr lang="en-US" b="true" sz="4506" spc="-247">
                <a:solidFill>
                  <a:srgbClr val="E7F2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🛡️ SECURITY BEST PRACTICES</a:t>
            </a:r>
          </a:p>
          <a:p>
            <a:pPr algn="ctr" marL="0" indent="0" lvl="0">
              <a:lnSpc>
                <a:spcPts val="4506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803731" y="217078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43677" y="-14081261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4740" cy="1798419"/>
            </a:xfrm>
            <a:custGeom>
              <a:avLst/>
              <a:gdLst/>
              <a:ahLst/>
              <a:cxnLst/>
              <a:rect r="r" b="b" t="t" l="l"/>
              <a:pathLst>
                <a:path h="1798419" w="2934740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17577" y="4646246"/>
            <a:ext cx="8354275" cy="3519516"/>
            <a:chOff x="0" y="0"/>
            <a:chExt cx="2691753" cy="1133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91753" cy="1133990"/>
            </a:xfrm>
            <a:custGeom>
              <a:avLst/>
              <a:gdLst/>
              <a:ahLst/>
              <a:cxnLst/>
              <a:rect r="r" b="b" t="t" l="l"/>
              <a:pathLst>
                <a:path h="1133990" w="2691753">
                  <a:moveTo>
                    <a:pt x="92670" y="0"/>
                  </a:moveTo>
                  <a:lnTo>
                    <a:pt x="2599083" y="0"/>
                  </a:lnTo>
                  <a:cubicBezTo>
                    <a:pt x="2650263" y="0"/>
                    <a:pt x="2691753" y="41490"/>
                    <a:pt x="2691753" y="92670"/>
                  </a:cubicBezTo>
                  <a:lnTo>
                    <a:pt x="2691753" y="1041320"/>
                  </a:lnTo>
                  <a:cubicBezTo>
                    <a:pt x="2691753" y="1092500"/>
                    <a:pt x="2650263" y="1133990"/>
                    <a:pt x="2599083" y="1133990"/>
                  </a:cubicBezTo>
                  <a:lnTo>
                    <a:pt x="92670" y="1133990"/>
                  </a:lnTo>
                  <a:cubicBezTo>
                    <a:pt x="41490" y="1133990"/>
                    <a:pt x="0" y="1092500"/>
                    <a:pt x="0" y="1041320"/>
                  </a:cubicBezTo>
                  <a:lnTo>
                    <a:pt x="0" y="92670"/>
                  </a:lnTo>
                  <a:cubicBezTo>
                    <a:pt x="0" y="41490"/>
                    <a:pt x="41490" y="0"/>
                    <a:pt x="926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91753" cy="1172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475314">
            <a:off x="921782" y="729302"/>
            <a:ext cx="877499" cy="634990"/>
          </a:xfrm>
          <a:custGeom>
            <a:avLst/>
            <a:gdLst/>
            <a:ahLst/>
            <a:cxnLst/>
            <a:rect r="r" b="b" t="t" l="l"/>
            <a:pathLst>
              <a:path h="634990" w="877499">
                <a:moveTo>
                  <a:pt x="0" y="0"/>
                </a:moveTo>
                <a:lnTo>
                  <a:pt x="877500" y="0"/>
                </a:lnTo>
                <a:lnTo>
                  <a:pt x="877500" y="634991"/>
                </a:lnTo>
                <a:lnTo>
                  <a:pt x="0" y="6349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89788" y="3469738"/>
            <a:ext cx="8640063" cy="165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9"/>
              </a:lnSpc>
            </a:pPr>
            <a:r>
              <a:rPr lang="en-US" b="true" sz="6449" i="true" spc="-354">
                <a:solidFill>
                  <a:srgbClr val="FFC700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PREVENTION TIPS</a:t>
            </a:r>
          </a:p>
          <a:p>
            <a:pPr algn="ctr" marL="0" indent="0" lvl="0">
              <a:lnSpc>
                <a:spcPts val="644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159579" y="5019675"/>
            <a:ext cx="8212273" cy="273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97" indent="-233149" lvl="1">
              <a:lnSpc>
                <a:spcPts val="3822"/>
              </a:lnSpc>
              <a:buFont typeface="Arial"/>
              <a:buChar char="•"/>
            </a:pPr>
            <a:r>
              <a:rPr lang="en-US" sz="2159" i="true" spc="440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Avoid clicking unknown links</a:t>
            </a:r>
          </a:p>
          <a:p>
            <a:pPr algn="l" marL="466297" indent="-233149" lvl="1">
              <a:lnSpc>
                <a:spcPts val="3822"/>
              </a:lnSpc>
              <a:buFont typeface="Arial"/>
              <a:buChar char="•"/>
            </a:pPr>
            <a:r>
              <a:rPr lang="en-US" sz="2159" i="true" spc="440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Verify sender identity</a:t>
            </a:r>
          </a:p>
          <a:p>
            <a:pPr algn="l" marL="466297" indent="-233149" lvl="1">
              <a:lnSpc>
                <a:spcPts val="3822"/>
              </a:lnSpc>
              <a:buFont typeface="Arial"/>
              <a:buChar char="•"/>
            </a:pPr>
            <a:r>
              <a:rPr lang="en-US" sz="2159" i="true" spc="440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</a:t>
            </a:r>
            <a:r>
              <a:rPr lang="en-US" sz="2159" i="true" spc="440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 strong, unique passwords</a:t>
            </a:r>
          </a:p>
          <a:p>
            <a:pPr algn="l" marL="466297" indent="-233149" lvl="1">
              <a:lnSpc>
                <a:spcPts val="3822"/>
              </a:lnSpc>
              <a:buFont typeface="Arial"/>
              <a:buChar char="•"/>
            </a:pPr>
            <a:r>
              <a:rPr lang="en-US" sz="2159" i="true" spc="440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Enable Two-Factor Authentication (2FA)</a:t>
            </a:r>
          </a:p>
          <a:p>
            <a:pPr algn="l" marL="466297" indent="-233149" lvl="1">
              <a:lnSpc>
                <a:spcPts val="3822"/>
              </a:lnSpc>
              <a:buFont typeface="Arial"/>
              <a:buChar char="•"/>
            </a:pPr>
            <a:r>
              <a:rPr lang="en-US" sz="2159" i="true" spc="440">
                <a:solidFill>
                  <a:srgbClr val="E7F2FA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Never share OTPs or credentials</a:t>
            </a:r>
          </a:p>
          <a:p>
            <a:pPr algn="ctr" marL="0" indent="0" lvl="0">
              <a:lnSpc>
                <a:spcPts val="233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20633" y="1085850"/>
            <a:ext cx="2969155" cy="41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8"/>
              </a:lnSpc>
            </a:pPr>
            <a:r>
              <a:rPr lang="en-US" b="true" sz="3098" spc="-170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🛡️ SLIDE : 15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2757619" y="-4718505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1"/>
                </a:lnTo>
                <a:lnTo>
                  <a:pt x="0" y="10126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905161" y="2698215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43677" y="-14081261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1" y="0"/>
                </a:lnTo>
                <a:lnTo>
                  <a:pt x="24368261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636350" y="4360968"/>
            <a:ext cx="9696716" cy="1382492"/>
            <a:chOff x="0" y="0"/>
            <a:chExt cx="3124288" cy="445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4288" cy="445440"/>
            </a:xfrm>
            <a:custGeom>
              <a:avLst/>
              <a:gdLst/>
              <a:ahLst/>
              <a:cxnLst/>
              <a:rect r="r" b="b" t="t" l="l"/>
              <a:pathLst>
                <a:path h="445440" w="3124288">
                  <a:moveTo>
                    <a:pt x="42316" y="0"/>
                  </a:moveTo>
                  <a:lnTo>
                    <a:pt x="3081973" y="0"/>
                  </a:lnTo>
                  <a:cubicBezTo>
                    <a:pt x="3105343" y="0"/>
                    <a:pt x="3124288" y="18945"/>
                    <a:pt x="3124288" y="42316"/>
                  </a:cubicBezTo>
                  <a:lnTo>
                    <a:pt x="3124288" y="403124"/>
                  </a:lnTo>
                  <a:cubicBezTo>
                    <a:pt x="3124288" y="426494"/>
                    <a:pt x="3105343" y="445440"/>
                    <a:pt x="3081973" y="445440"/>
                  </a:cubicBezTo>
                  <a:lnTo>
                    <a:pt x="42316" y="445440"/>
                  </a:lnTo>
                  <a:cubicBezTo>
                    <a:pt x="18945" y="445440"/>
                    <a:pt x="0" y="426494"/>
                    <a:pt x="0" y="403124"/>
                  </a:cubicBezTo>
                  <a:lnTo>
                    <a:pt x="0" y="42316"/>
                  </a:lnTo>
                  <a:cubicBezTo>
                    <a:pt x="0" y="18945"/>
                    <a:pt x="18945" y="0"/>
                    <a:pt x="423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45000"/>
                  </a:srgbClr>
                </a:gs>
                <a:gs pos="100000">
                  <a:srgbClr val="2F0087">
                    <a:alpha val="45000"/>
                  </a:srgbClr>
                </a:gs>
              </a:gsLst>
              <a:lin ang="2700000"/>
            </a:gradFill>
            <a:ln w="66675" cap="rnd">
              <a:gradFill>
                <a:gsLst>
                  <a:gs pos="0">
                    <a:srgbClr val="1880BB">
                      <a:alpha val="45000"/>
                    </a:srgbClr>
                  </a:gs>
                  <a:gs pos="100000">
                    <a:srgbClr val="E2E2E2">
                      <a:alpha val="45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24288" cy="483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239132" y="4826296"/>
            <a:ext cx="8233967" cy="103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b="true" sz="4013" i="true" spc="-220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🎮 KNOWLEDGE CHECK</a:t>
            </a:r>
          </a:p>
          <a:p>
            <a:pPr algn="ctr" marL="0" indent="0" lvl="0">
              <a:lnSpc>
                <a:spcPts val="4013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75314">
            <a:off x="1123284" y="872713"/>
            <a:ext cx="826217" cy="597880"/>
          </a:xfrm>
          <a:custGeom>
            <a:avLst/>
            <a:gdLst/>
            <a:ahLst/>
            <a:cxnLst/>
            <a:rect r="r" b="b" t="t" l="l"/>
            <a:pathLst>
              <a:path h="597880" w="826217">
                <a:moveTo>
                  <a:pt x="0" y="0"/>
                </a:moveTo>
                <a:lnTo>
                  <a:pt x="826216" y="0"/>
                </a:lnTo>
                <a:lnTo>
                  <a:pt x="826216" y="597880"/>
                </a:lnTo>
                <a:lnTo>
                  <a:pt x="0" y="597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25552" y="-12520371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3909884">
            <a:off x="1221932" y="-113582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8" y="14625633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6">
              <a:alphaModFix amt="32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0192" y="1228803"/>
            <a:ext cx="2969155" cy="41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4"/>
              </a:lnSpc>
            </a:pPr>
            <a:r>
              <a:rPr lang="en-US" b="true" sz="3144" spc="-172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Q&amp;A  SLIDE : 16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43199" y="2494241"/>
            <a:ext cx="7016101" cy="2782851"/>
            <a:chOff x="0" y="0"/>
            <a:chExt cx="2260592" cy="8966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0592" cy="896636"/>
            </a:xfrm>
            <a:custGeom>
              <a:avLst/>
              <a:gdLst/>
              <a:ahLst/>
              <a:cxnLst/>
              <a:rect r="r" b="b" t="t" l="l"/>
              <a:pathLst>
                <a:path h="896636" w="2260592">
                  <a:moveTo>
                    <a:pt x="33104" y="0"/>
                  </a:moveTo>
                  <a:lnTo>
                    <a:pt x="2227489" y="0"/>
                  </a:lnTo>
                  <a:cubicBezTo>
                    <a:pt x="2245771" y="0"/>
                    <a:pt x="2260592" y="14821"/>
                    <a:pt x="2260592" y="33104"/>
                  </a:cubicBezTo>
                  <a:lnTo>
                    <a:pt x="2260592" y="863533"/>
                  </a:lnTo>
                  <a:cubicBezTo>
                    <a:pt x="2260592" y="881815"/>
                    <a:pt x="2245771" y="896636"/>
                    <a:pt x="2227489" y="896636"/>
                  </a:cubicBezTo>
                  <a:lnTo>
                    <a:pt x="33104" y="896636"/>
                  </a:lnTo>
                  <a:cubicBezTo>
                    <a:pt x="14821" y="896636"/>
                    <a:pt x="0" y="881815"/>
                    <a:pt x="0" y="863533"/>
                  </a:cubicBezTo>
                  <a:lnTo>
                    <a:pt x="0" y="33104"/>
                  </a:lnTo>
                  <a:cubicBezTo>
                    <a:pt x="0" y="14821"/>
                    <a:pt x="14821" y="0"/>
                    <a:pt x="33104" y="0"/>
                  </a:cubicBezTo>
                  <a:close/>
                </a:path>
              </a:pathLst>
            </a:custGeom>
            <a:solidFill>
              <a:srgbClr val="0B131B"/>
            </a:soli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60592" cy="934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62215" y="2494241"/>
            <a:ext cx="7636395" cy="2802798"/>
            <a:chOff x="0" y="0"/>
            <a:chExt cx="2460452" cy="9030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60452" cy="903063"/>
            </a:xfrm>
            <a:custGeom>
              <a:avLst/>
              <a:gdLst/>
              <a:ahLst/>
              <a:cxnLst/>
              <a:rect r="r" b="b" t="t" l="l"/>
              <a:pathLst>
                <a:path h="903063" w="2460452">
                  <a:moveTo>
                    <a:pt x="30415" y="0"/>
                  </a:moveTo>
                  <a:lnTo>
                    <a:pt x="2430037" y="0"/>
                  </a:lnTo>
                  <a:cubicBezTo>
                    <a:pt x="2446835" y="0"/>
                    <a:pt x="2460452" y="13617"/>
                    <a:pt x="2460452" y="30415"/>
                  </a:cubicBezTo>
                  <a:lnTo>
                    <a:pt x="2460452" y="872649"/>
                  </a:lnTo>
                  <a:cubicBezTo>
                    <a:pt x="2460452" y="880715"/>
                    <a:pt x="2457247" y="888451"/>
                    <a:pt x="2451543" y="894155"/>
                  </a:cubicBezTo>
                  <a:cubicBezTo>
                    <a:pt x="2445839" y="899859"/>
                    <a:pt x="2438104" y="903063"/>
                    <a:pt x="2430037" y="903063"/>
                  </a:cubicBezTo>
                  <a:lnTo>
                    <a:pt x="30415" y="903063"/>
                  </a:lnTo>
                  <a:cubicBezTo>
                    <a:pt x="22348" y="903063"/>
                    <a:pt x="14612" y="899859"/>
                    <a:pt x="8908" y="894155"/>
                  </a:cubicBezTo>
                  <a:cubicBezTo>
                    <a:pt x="3204" y="888451"/>
                    <a:pt x="0" y="880715"/>
                    <a:pt x="0" y="872649"/>
                  </a:cubicBezTo>
                  <a:lnTo>
                    <a:pt x="0" y="30415"/>
                  </a:lnTo>
                  <a:cubicBezTo>
                    <a:pt x="0" y="22348"/>
                    <a:pt x="3204" y="14612"/>
                    <a:pt x="8908" y="8908"/>
                  </a:cubicBezTo>
                  <a:cubicBezTo>
                    <a:pt x="14612" y="3204"/>
                    <a:pt x="22348" y="0"/>
                    <a:pt x="304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60452" cy="941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9788" y="5988123"/>
            <a:ext cx="5244393" cy="2782851"/>
            <a:chOff x="0" y="0"/>
            <a:chExt cx="1689747" cy="8966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747" cy="896636"/>
            </a:xfrm>
            <a:custGeom>
              <a:avLst/>
              <a:gdLst/>
              <a:ahLst/>
              <a:cxnLst/>
              <a:rect r="r" b="b" t="t" l="l"/>
              <a:pathLst>
                <a:path h="896636" w="1689747">
                  <a:moveTo>
                    <a:pt x="44287" y="0"/>
                  </a:moveTo>
                  <a:lnTo>
                    <a:pt x="1645460" y="0"/>
                  </a:lnTo>
                  <a:cubicBezTo>
                    <a:pt x="1657206" y="0"/>
                    <a:pt x="1668470" y="4666"/>
                    <a:pt x="1676776" y="12971"/>
                  </a:cubicBezTo>
                  <a:cubicBezTo>
                    <a:pt x="1685081" y="21277"/>
                    <a:pt x="1689747" y="32541"/>
                    <a:pt x="1689747" y="44287"/>
                  </a:cubicBezTo>
                  <a:lnTo>
                    <a:pt x="1689747" y="852350"/>
                  </a:lnTo>
                  <a:cubicBezTo>
                    <a:pt x="1689747" y="876808"/>
                    <a:pt x="1669919" y="896636"/>
                    <a:pt x="1645460" y="896636"/>
                  </a:cubicBezTo>
                  <a:lnTo>
                    <a:pt x="44287" y="896636"/>
                  </a:lnTo>
                  <a:cubicBezTo>
                    <a:pt x="19828" y="896636"/>
                    <a:pt x="0" y="876808"/>
                    <a:pt x="0" y="852350"/>
                  </a:cubicBezTo>
                  <a:lnTo>
                    <a:pt x="0" y="44287"/>
                  </a:lnTo>
                  <a:cubicBezTo>
                    <a:pt x="0" y="19828"/>
                    <a:pt x="19828" y="0"/>
                    <a:pt x="44287" y="0"/>
                  </a:cubicBezTo>
                  <a:close/>
                </a:path>
              </a:pathLst>
            </a:custGeom>
            <a:solidFill>
              <a:srgbClr val="E7F2FA"/>
            </a:soli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89747" cy="934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5463" y="6125714"/>
            <a:ext cx="5731255" cy="2782851"/>
            <a:chOff x="0" y="0"/>
            <a:chExt cx="1846614" cy="8966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46614" cy="896636"/>
            </a:xfrm>
            <a:custGeom>
              <a:avLst/>
              <a:gdLst/>
              <a:ahLst/>
              <a:cxnLst/>
              <a:rect r="r" b="b" t="t" l="l"/>
              <a:pathLst>
                <a:path h="896636" w="1846614">
                  <a:moveTo>
                    <a:pt x="40525" y="0"/>
                  </a:moveTo>
                  <a:lnTo>
                    <a:pt x="1806090" y="0"/>
                  </a:lnTo>
                  <a:cubicBezTo>
                    <a:pt x="1828471" y="0"/>
                    <a:pt x="1846614" y="18144"/>
                    <a:pt x="1846614" y="40525"/>
                  </a:cubicBezTo>
                  <a:lnTo>
                    <a:pt x="1846614" y="856112"/>
                  </a:lnTo>
                  <a:cubicBezTo>
                    <a:pt x="1846614" y="878493"/>
                    <a:pt x="1828471" y="896636"/>
                    <a:pt x="1806090" y="896636"/>
                  </a:cubicBezTo>
                  <a:lnTo>
                    <a:pt x="40525" y="896636"/>
                  </a:lnTo>
                  <a:cubicBezTo>
                    <a:pt x="18144" y="896636"/>
                    <a:pt x="0" y="878493"/>
                    <a:pt x="0" y="856112"/>
                  </a:cubicBezTo>
                  <a:lnTo>
                    <a:pt x="0" y="40525"/>
                  </a:lnTo>
                  <a:cubicBezTo>
                    <a:pt x="0" y="18144"/>
                    <a:pt x="18144" y="0"/>
                    <a:pt x="405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46614" cy="934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316214"/>
            <a:ext cx="6042378" cy="40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3056" spc="-168" b="true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Someone requests your OTP 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5880" y="7047186"/>
            <a:ext cx="5588018" cy="110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9"/>
              </a:lnSpc>
            </a:pPr>
            <a:r>
              <a:rPr lang="en-US" b="true" sz="3159" i="true" spc="-173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A) Share it</a:t>
            </a:r>
          </a:p>
          <a:p>
            <a:pPr algn="l" marL="0" indent="0" lvl="0">
              <a:lnSpc>
                <a:spcPts val="4792"/>
              </a:lnSpc>
            </a:pPr>
            <a:r>
              <a:rPr lang="en-US" b="true" sz="3833" i="true" spc="-210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B) Refuse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19172" y="2620334"/>
            <a:ext cx="6444379" cy="301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b="true" sz="2436" i="true" spc="-133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An email says: </a:t>
            </a:r>
            <a:r>
              <a:rPr lang="en-US" b="true" sz="2436" i="true" spc="-133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Your account will be suspended immediately.”</a:t>
            </a:r>
          </a:p>
          <a:p>
            <a:pPr algn="l">
              <a:lnSpc>
                <a:spcPts val="2670"/>
              </a:lnSpc>
            </a:pPr>
          </a:p>
          <a:p>
            <a:pPr algn="l">
              <a:lnSpc>
                <a:spcPts val="2920"/>
              </a:lnSpc>
            </a:pPr>
            <a:r>
              <a:rPr lang="en-US" b="true" sz="2336" i="true" spc="-128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Is this:</a:t>
            </a:r>
          </a:p>
          <a:p>
            <a:pPr algn="l">
              <a:lnSpc>
                <a:spcPts val="2670"/>
              </a:lnSpc>
            </a:pPr>
          </a:p>
          <a:p>
            <a:pPr algn="l">
              <a:lnSpc>
                <a:spcPts val="3295"/>
              </a:lnSpc>
            </a:pPr>
            <a:r>
              <a:rPr lang="en-US" b="true" sz="2636" i="true" spc="-144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A) Safe</a:t>
            </a:r>
          </a:p>
          <a:p>
            <a:pPr algn="l">
              <a:lnSpc>
                <a:spcPts val="3295"/>
              </a:lnSpc>
            </a:pPr>
            <a:r>
              <a:rPr lang="en-US" b="true" sz="2636" i="true" spc="-144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B) Suspicious</a:t>
            </a:r>
          </a:p>
          <a:p>
            <a:pPr algn="l" marL="0" indent="0" lvl="0">
              <a:lnSpc>
                <a:spcPts val="3295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691740" y="2687009"/>
            <a:ext cx="5364580" cy="42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b="true" sz="3183" i="true" spc="-175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Which link is legitimate?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14406" y="3546975"/>
            <a:ext cx="5092353" cy="92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b="true" sz="2756" i="true" spc="-151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A) paytm-secure-login.xyz</a:t>
            </a:r>
          </a:p>
          <a:p>
            <a:pPr algn="l" marL="0" indent="0" lvl="0">
              <a:lnSpc>
                <a:spcPts val="3906"/>
              </a:lnSpc>
            </a:pPr>
            <a:r>
              <a:rPr lang="en-US" b="true" sz="3125" i="true" spc="-171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B) </a:t>
            </a:r>
            <a:r>
              <a:rPr lang="en-US" b="true" sz="3125" i="true" spc="-171" u="sng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  <a:hlinkClick r:id="rId8" tooltip="https://paytm.com"/>
              </a:rPr>
              <a:t>https://paytm.com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78688" y="6242463"/>
            <a:ext cx="8705087" cy="823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b="true" sz="3182" i="true" spc="-175" u="sng">
                <a:solidFill>
                  <a:srgbClr val="0B131B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Assessment Result </a:t>
            </a:r>
            <a:r>
              <a:rPr lang="en-US" b="true" sz="3182" i="true" spc="-175" u="sng">
                <a:solidFill>
                  <a:srgbClr val="0B131B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🏆</a:t>
            </a:r>
          </a:p>
          <a:p>
            <a:pPr algn="l">
              <a:lnSpc>
                <a:spcPts val="3182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652737" y="7047186"/>
            <a:ext cx="4578494" cy="167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600" indent="-244800" lvl="1">
              <a:lnSpc>
                <a:spcPts val="2834"/>
              </a:lnSpc>
              <a:buFont typeface="Arial"/>
              <a:buChar char="•"/>
            </a:pPr>
            <a:r>
              <a:rPr lang="en-US" b="true" sz="2267" i="true" spc="-124">
                <a:solidFill>
                  <a:srgbClr val="0B131B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3 Correct → Good Awareness</a:t>
            </a:r>
          </a:p>
          <a:p>
            <a:pPr algn="l" marL="489600" indent="-244800" lvl="1">
              <a:lnSpc>
                <a:spcPts val="2834"/>
              </a:lnSpc>
              <a:buFont typeface="Arial"/>
              <a:buChar char="•"/>
            </a:pPr>
            <a:r>
              <a:rPr lang="en-US" b="true" sz="2267" i="true" spc="-124">
                <a:solidFill>
                  <a:srgbClr val="0B131B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2 Correct → Needs Improvement</a:t>
            </a:r>
          </a:p>
          <a:p>
            <a:pPr algn="l" marL="489600" indent="-244800" lvl="1">
              <a:lnSpc>
                <a:spcPts val="2834"/>
              </a:lnSpc>
              <a:buFont typeface="Arial"/>
              <a:buChar char="•"/>
            </a:pPr>
            <a:r>
              <a:rPr lang="en-US" b="true" sz="2267" i="true" spc="-124">
                <a:solidFill>
                  <a:srgbClr val="0B131B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0–1 Correct → High Risk</a:t>
            </a:r>
          </a:p>
          <a:p>
            <a:pPr algn="l" marL="0" indent="0" lvl="0">
              <a:lnSpc>
                <a:spcPts val="195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4359211" y="5562178"/>
            <a:ext cx="2900089" cy="385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39"/>
              </a:lnSpc>
            </a:pPr>
            <a:r>
              <a:rPr lang="en-US" b="true" sz="3899" i="true" u="sng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Answers</a:t>
            </a:r>
            <a:r>
              <a:rPr lang="en-US" b="true" sz="3899" i="true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</a:t>
            </a:r>
          </a:p>
          <a:p>
            <a:pPr algn="just">
              <a:lnSpc>
                <a:spcPts val="6239"/>
              </a:lnSpc>
            </a:pPr>
            <a:r>
              <a:rPr lang="en-US" b="true" sz="3899" i="true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1.  B</a:t>
            </a:r>
          </a:p>
          <a:p>
            <a:pPr algn="just">
              <a:lnSpc>
                <a:spcPts val="6239"/>
              </a:lnSpc>
            </a:pPr>
            <a:r>
              <a:rPr lang="en-US" b="true" sz="3899" i="true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2 . B</a:t>
            </a:r>
          </a:p>
          <a:p>
            <a:pPr algn="just">
              <a:lnSpc>
                <a:spcPts val="6239"/>
              </a:lnSpc>
            </a:pPr>
            <a:r>
              <a:rPr lang="en-US" b="true" sz="3899" i="true">
                <a:solidFill>
                  <a:srgbClr val="FFC7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3 . B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11350372" y="-14131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8" y="0"/>
                </a:moveTo>
                <a:lnTo>
                  <a:pt x="0" y="0"/>
                </a:lnTo>
                <a:lnTo>
                  <a:pt x="0" y="14625634"/>
                </a:lnTo>
                <a:lnTo>
                  <a:pt x="14319658" y="14625634"/>
                </a:lnTo>
                <a:lnTo>
                  <a:pt x="14319658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36157">
            <a:off x="-3151065" y="-4804991"/>
            <a:ext cx="13558802" cy="10126730"/>
          </a:xfrm>
          <a:custGeom>
            <a:avLst/>
            <a:gdLst/>
            <a:ahLst/>
            <a:cxnLst/>
            <a:rect r="r" b="b" t="t" l="l"/>
            <a:pathLst>
              <a:path h="10126730" w="13558802">
                <a:moveTo>
                  <a:pt x="0" y="0"/>
                </a:moveTo>
                <a:lnTo>
                  <a:pt x="13558802" y="0"/>
                </a:lnTo>
                <a:lnTo>
                  <a:pt x="13558802" y="10126730"/>
                </a:lnTo>
                <a:lnTo>
                  <a:pt x="0" y="101267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416937" y="6471394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11088" y="-19497598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1"/>
                </a:lnTo>
                <a:lnTo>
                  <a:pt x="0" y="2436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89788" y="2862044"/>
            <a:ext cx="9108424" cy="5581675"/>
            <a:chOff x="0" y="0"/>
            <a:chExt cx="2934740" cy="1798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4740" cy="1798419"/>
            </a:xfrm>
            <a:custGeom>
              <a:avLst/>
              <a:gdLst/>
              <a:ahLst/>
              <a:cxnLst/>
              <a:rect r="r" b="b" t="t" l="l"/>
              <a:pathLst>
                <a:path h="1798419" w="2934740">
                  <a:moveTo>
                    <a:pt x="45049" y="0"/>
                  </a:moveTo>
                  <a:lnTo>
                    <a:pt x="2889692" y="0"/>
                  </a:lnTo>
                  <a:cubicBezTo>
                    <a:pt x="2914571" y="0"/>
                    <a:pt x="2934740" y="20169"/>
                    <a:pt x="2934740" y="45049"/>
                  </a:cubicBezTo>
                  <a:lnTo>
                    <a:pt x="2934740" y="1753371"/>
                  </a:lnTo>
                  <a:cubicBezTo>
                    <a:pt x="2934740" y="1778250"/>
                    <a:pt x="2914571" y="1798419"/>
                    <a:pt x="2889692" y="1798419"/>
                  </a:cubicBezTo>
                  <a:lnTo>
                    <a:pt x="45049" y="1798419"/>
                  </a:lnTo>
                  <a:cubicBezTo>
                    <a:pt x="20169" y="1798419"/>
                    <a:pt x="0" y="1778250"/>
                    <a:pt x="0" y="1753371"/>
                  </a:cubicBezTo>
                  <a:lnTo>
                    <a:pt x="0" y="45049"/>
                  </a:lnTo>
                  <a:cubicBezTo>
                    <a:pt x="0" y="20169"/>
                    <a:pt x="20169" y="0"/>
                    <a:pt x="45049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34740" cy="1836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59579" y="4318982"/>
            <a:ext cx="7745697" cy="3491181"/>
            <a:chOff x="0" y="0"/>
            <a:chExt cx="2495669" cy="11248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95669" cy="1124861"/>
            </a:xfrm>
            <a:custGeom>
              <a:avLst/>
              <a:gdLst/>
              <a:ahLst/>
              <a:cxnLst/>
              <a:rect r="r" b="b" t="t" l="l"/>
              <a:pathLst>
                <a:path h="1124861" w="2495669">
                  <a:moveTo>
                    <a:pt x="99951" y="0"/>
                  </a:moveTo>
                  <a:lnTo>
                    <a:pt x="2395718" y="0"/>
                  </a:lnTo>
                  <a:cubicBezTo>
                    <a:pt x="2422226" y="0"/>
                    <a:pt x="2447649" y="10531"/>
                    <a:pt x="2466394" y="29275"/>
                  </a:cubicBezTo>
                  <a:cubicBezTo>
                    <a:pt x="2485138" y="48020"/>
                    <a:pt x="2495669" y="73443"/>
                    <a:pt x="2495669" y="99951"/>
                  </a:cubicBezTo>
                  <a:lnTo>
                    <a:pt x="2495669" y="1024909"/>
                  </a:lnTo>
                  <a:cubicBezTo>
                    <a:pt x="2495669" y="1051418"/>
                    <a:pt x="2485138" y="1076841"/>
                    <a:pt x="2466394" y="1095586"/>
                  </a:cubicBezTo>
                  <a:cubicBezTo>
                    <a:pt x="2447649" y="1114330"/>
                    <a:pt x="2422226" y="1124861"/>
                    <a:pt x="2395718" y="1124861"/>
                  </a:cubicBezTo>
                  <a:lnTo>
                    <a:pt x="99951" y="1124861"/>
                  </a:lnTo>
                  <a:cubicBezTo>
                    <a:pt x="73443" y="1124861"/>
                    <a:pt x="48020" y="1114330"/>
                    <a:pt x="29275" y="1095586"/>
                  </a:cubicBezTo>
                  <a:cubicBezTo>
                    <a:pt x="10531" y="1076841"/>
                    <a:pt x="0" y="1051418"/>
                    <a:pt x="0" y="1024909"/>
                  </a:cubicBezTo>
                  <a:lnTo>
                    <a:pt x="0" y="99951"/>
                  </a:lnTo>
                  <a:cubicBezTo>
                    <a:pt x="0" y="73443"/>
                    <a:pt x="10531" y="48020"/>
                    <a:pt x="29275" y="29275"/>
                  </a:cubicBezTo>
                  <a:cubicBezTo>
                    <a:pt x="48020" y="10531"/>
                    <a:pt x="73443" y="0"/>
                    <a:pt x="999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95669" cy="1162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2475314">
            <a:off x="950232" y="772398"/>
            <a:ext cx="862761" cy="624326"/>
          </a:xfrm>
          <a:custGeom>
            <a:avLst/>
            <a:gdLst/>
            <a:ahLst/>
            <a:cxnLst/>
            <a:rect r="r" b="b" t="t" l="l"/>
            <a:pathLst>
              <a:path h="624326" w="862761">
                <a:moveTo>
                  <a:pt x="0" y="0"/>
                </a:moveTo>
                <a:lnTo>
                  <a:pt x="862762" y="0"/>
                </a:lnTo>
                <a:lnTo>
                  <a:pt x="862762" y="624326"/>
                </a:lnTo>
                <a:lnTo>
                  <a:pt x="0" y="624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08876" y="3376771"/>
            <a:ext cx="8270249" cy="94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94"/>
              </a:lnSpc>
            </a:pPr>
            <a:r>
              <a:rPr lang="en-US" b="true" sz="7094" i="true" spc="-390">
                <a:solidFill>
                  <a:srgbClr val="FFDE59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KEY TAKEAWAYS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9579" y="4777753"/>
            <a:ext cx="7745697" cy="374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1730" indent="-335865" lvl="1">
              <a:lnSpc>
                <a:spcPts val="3329"/>
              </a:lnSpc>
              <a:buFont typeface="Arial"/>
              <a:buChar char="•"/>
            </a:pPr>
            <a:r>
              <a:rPr lang="en-US" b="true" sz="3111" i="true" spc="-3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Always verify before trusting</a:t>
            </a:r>
          </a:p>
          <a:p>
            <a:pPr algn="ctr">
              <a:lnSpc>
                <a:spcPts val="3329"/>
              </a:lnSpc>
            </a:pPr>
          </a:p>
          <a:p>
            <a:pPr algn="l" marL="671730" indent="-335865" lvl="1">
              <a:lnSpc>
                <a:spcPts val="3329"/>
              </a:lnSpc>
              <a:buFont typeface="Arial"/>
              <a:buChar char="•"/>
            </a:pPr>
            <a:r>
              <a:rPr lang="en-US" b="true" sz="3111" i="true" spc="-3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Be cautious of urgency and fear tactics</a:t>
            </a:r>
          </a:p>
          <a:p>
            <a:pPr algn="ctr">
              <a:lnSpc>
                <a:spcPts val="3329"/>
              </a:lnSpc>
            </a:pPr>
          </a:p>
          <a:p>
            <a:pPr algn="l" marL="671730" indent="-335865" lvl="1">
              <a:lnSpc>
                <a:spcPts val="3329"/>
              </a:lnSpc>
              <a:buFont typeface="Arial"/>
              <a:buChar char="•"/>
            </a:pPr>
            <a:r>
              <a:rPr lang="en-US" b="true" sz="3111" i="true" spc="-3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Cybersecurity awareness is essential</a:t>
            </a:r>
          </a:p>
          <a:p>
            <a:pPr algn="ctr">
              <a:lnSpc>
                <a:spcPts val="3111"/>
              </a:lnSpc>
            </a:pPr>
          </a:p>
          <a:p>
            <a:pPr algn="ctr" marL="0" indent="0" lvl="0">
              <a:lnSpc>
                <a:spcPts val="311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20633" y="1140707"/>
            <a:ext cx="2969155" cy="41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8"/>
              </a:lnSpc>
            </a:pPr>
            <a:r>
              <a:rPr lang="en-US" b="true" sz="3098" spc="-170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🧠 SLIDE :17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909884">
            <a:off x="-1982581" y="-347858"/>
            <a:ext cx="14319658" cy="14625633"/>
          </a:xfrm>
          <a:custGeom>
            <a:avLst/>
            <a:gdLst/>
            <a:ahLst/>
            <a:cxnLst/>
            <a:rect r="r" b="b" t="t" l="l"/>
            <a:pathLst>
              <a:path h="14625633" w="14319658">
                <a:moveTo>
                  <a:pt x="14319657" y="0"/>
                </a:moveTo>
                <a:lnTo>
                  <a:pt x="0" y="0"/>
                </a:lnTo>
                <a:lnTo>
                  <a:pt x="0" y="14625633"/>
                </a:lnTo>
                <a:lnTo>
                  <a:pt x="14319657" y="14625633"/>
                </a:lnTo>
                <a:lnTo>
                  <a:pt x="14319657" y="0"/>
                </a:lnTo>
                <a:close/>
              </a:path>
            </a:pathLst>
          </a:custGeom>
          <a:blipFill>
            <a:blip r:embed="rId2">
              <a:alphaModFix amt="7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64168">
            <a:off x="6670063" y="-2715093"/>
            <a:ext cx="23235874" cy="21039028"/>
          </a:xfrm>
          <a:custGeom>
            <a:avLst/>
            <a:gdLst/>
            <a:ahLst/>
            <a:cxnLst/>
            <a:rect r="r" b="b" t="t" l="l"/>
            <a:pathLst>
              <a:path h="21039028" w="23235874">
                <a:moveTo>
                  <a:pt x="0" y="0"/>
                </a:moveTo>
                <a:lnTo>
                  <a:pt x="23235874" y="0"/>
                </a:lnTo>
                <a:lnTo>
                  <a:pt x="23235874" y="21039027"/>
                </a:lnTo>
                <a:lnTo>
                  <a:pt x="0" y="210390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803731" y="2170782"/>
            <a:ext cx="24368261" cy="24368261"/>
          </a:xfrm>
          <a:custGeom>
            <a:avLst/>
            <a:gdLst/>
            <a:ahLst/>
            <a:cxnLst/>
            <a:rect r="r" b="b" t="t" l="l"/>
            <a:pathLst>
              <a:path h="24368261" w="24368261">
                <a:moveTo>
                  <a:pt x="0" y="0"/>
                </a:moveTo>
                <a:lnTo>
                  <a:pt x="24368260" y="0"/>
                </a:lnTo>
                <a:lnTo>
                  <a:pt x="24368260" y="24368260"/>
                </a:lnTo>
                <a:lnTo>
                  <a:pt x="0" y="24368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28782" y="3281470"/>
            <a:ext cx="10157992" cy="2625817"/>
            <a:chOff x="0" y="0"/>
            <a:chExt cx="3272912" cy="846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72911" cy="846040"/>
            </a:xfrm>
            <a:custGeom>
              <a:avLst/>
              <a:gdLst/>
              <a:ahLst/>
              <a:cxnLst/>
              <a:rect r="r" b="b" t="t" l="l"/>
              <a:pathLst>
                <a:path h="846040" w="3272911">
                  <a:moveTo>
                    <a:pt x="40394" y="0"/>
                  </a:moveTo>
                  <a:lnTo>
                    <a:pt x="3232517" y="0"/>
                  </a:lnTo>
                  <a:cubicBezTo>
                    <a:pt x="3243231" y="0"/>
                    <a:pt x="3253505" y="4256"/>
                    <a:pt x="3261080" y="11831"/>
                  </a:cubicBezTo>
                  <a:cubicBezTo>
                    <a:pt x="3268656" y="19406"/>
                    <a:pt x="3272911" y="29681"/>
                    <a:pt x="3272911" y="40394"/>
                  </a:cubicBezTo>
                  <a:lnTo>
                    <a:pt x="3272911" y="805646"/>
                  </a:lnTo>
                  <a:cubicBezTo>
                    <a:pt x="3272911" y="816359"/>
                    <a:pt x="3268656" y="826633"/>
                    <a:pt x="3261080" y="834209"/>
                  </a:cubicBezTo>
                  <a:cubicBezTo>
                    <a:pt x="3253505" y="841784"/>
                    <a:pt x="3243231" y="846040"/>
                    <a:pt x="3232517" y="846040"/>
                  </a:cubicBezTo>
                  <a:lnTo>
                    <a:pt x="40394" y="846040"/>
                  </a:lnTo>
                  <a:cubicBezTo>
                    <a:pt x="29681" y="846040"/>
                    <a:pt x="19406" y="841784"/>
                    <a:pt x="11831" y="834209"/>
                  </a:cubicBezTo>
                  <a:cubicBezTo>
                    <a:pt x="4256" y="826633"/>
                    <a:pt x="0" y="816359"/>
                    <a:pt x="0" y="805646"/>
                  </a:cubicBezTo>
                  <a:lnTo>
                    <a:pt x="0" y="40394"/>
                  </a:lnTo>
                  <a:cubicBezTo>
                    <a:pt x="0" y="29681"/>
                    <a:pt x="4256" y="19406"/>
                    <a:pt x="11831" y="11831"/>
                  </a:cubicBezTo>
                  <a:cubicBezTo>
                    <a:pt x="19406" y="4256"/>
                    <a:pt x="29681" y="0"/>
                    <a:pt x="40394" y="0"/>
                  </a:cubicBezTo>
                  <a:close/>
                </a:path>
              </a:pathLst>
            </a:custGeom>
            <a:solidFill>
              <a:srgbClr val="2D3677">
                <a:alpha val="44706"/>
              </a:srgbClr>
            </a:solidFill>
            <a:ln w="38100" cap="rnd">
              <a:solidFill>
                <a:srgbClr val="E7F2FA">
                  <a:alpha val="44706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72912" cy="884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2475314">
            <a:off x="1017396" y="745730"/>
            <a:ext cx="837604" cy="606121"/>
          </a:xfrm>
          <a:custGeom>
            <a:avLst/>
            <a:gdLst/>
            <a:ahLst/>
            <a:cxnLst/>
            <a:rect r="r" b="b" t="t" l="l"/>
            <a:pathLst>
              <a:path h="606121" w="837604">
                <a:moveTo>
                  <a:pt x="0" y="0"/>
                </a:moveTo>
                <a:lnTo>
                  <a:pt x="837604" y="0"/>
                </a:lnTo>
                <a:lnTo>
                  <a:pt x="837604" y="606121"/>
                </a:lnTo>
                <a:lnTo>
                  <a:pt x="0" y="6061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49049" y="4046241"/>
            <a:ext cx="9237725" cy="67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52"/>
              </a:lnSpc>
            </a:pPr>
            <a:r>
              <a:rPr lang="en-US" b="true" sz="5052" i="true" spc="-277" u="sng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STAY SAFE. STAY AWARE.</a:t>
            </a:r>
            <a:r>
              <a:rPr lang="en-US" b="true" sz="5052" i="true" spc="-277" u="sng">
                <a:solidFill>
                  <a:srgbClr val="E7F2F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2313" y="1171822"/>
            <a:ext cx="2969155" cy="38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8"/>
              </a:lnSpc>
            </a:pPr>
            <a:r>
              <a:rPr lang="en-US" b="true" sz="2998" spc="-164">
                <a:solidFill>
                  <a:srgbClr val="E7F2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🎉 SLIDE :17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26030" y="1811284"/>
            <a:ext cx="10488942" cy="122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3"/>
              </a:lnSpc>
              <a:spcBef>
                <a:spcPct val="0"/>
              </a:spcBef>
            </a:pPr>
            <a:r>
              <a:rPr lang="en-US" sz="7842" spc="-431">
                <a:solidFill>
                  <a:srgbClr val="5CE1E6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DAHHfj1llIA</dc:identifier>
  <dcterms:modified xsi:type="dcterms:W3CDTF">2011-08-01T06:04:30Z</dcterms:modified>
  <cp:revision>1</cp:revision>
  <dc:title>Cyber Security</dc:title>
</cp:coreProperties>
</file>